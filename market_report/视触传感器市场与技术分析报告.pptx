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20" Type="http://schemas.openxmlformats.org/officeDocument/2006/relationships/viewProps" Target="viewProps.xml" /><Relationship Id="rId19" Type="http://schemas.openxmlformats.org/officeDocument/2006/relationships/presProps" Target="presProps.xml" /><Relationship Id="rId1" Type="http://schemas.openxmlformats.org/officeDocument/2006/relationships/slideMaster" Target="slideMasters/slideMaster1.xml" /><Relationship Id="rId22" Type="http://schemas.openxmlformats.org/officeDocument/2006/relationships/tableStyles" Target="tableStyles.xml" /><Relationship Id="rId2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视触传感器市场与技术分析报告</a:t>
            </a:r>
          </a:p>
        </p:txBody>
      </p:sp>
      <p:sp>
        <p:nvSpPr>
          <p:cNvPr id="3" name="Content Placeholder 2"/>
          <p:cNvSpPr>
            <a:spLocks noGrp="1"/>
          </p:cNvSpPr>
          <p:nvPr>
            <p:ph idx="1"/>
          </p:nvPr>
        </p:nvSpPr>
        <p:spPr/>
        <p:txBody>
          <a:bodyPr/>
          <a:lstStyle/>
          <a:p>
            <a:pPr lvl="0" indent="0" marL="0">
              <a:spcBef>
                <a:spcPts val="3000"/>
              </a:spcBef>
              <a:buNone/>
            </a:pPr>
            <a:r>
              <a:rPr b="1"/>
              <a:t>执行摘要</a:t>
            </a:r>
          </a:p>
          <a:p>
            <a:pPr lvl="0" indent="0" marL="0">
              <a:spcBef>
                <a:spcPts val="3000"/>
              </a:spcBef>
              <a:buNone/>
            </a:pPr>
            <a:r>
              <a:rPr b="1"/>
              <a:t>报告目的</a:t>
            </a:r>
          </a:p>
          <a:p>
            <a:pPr lvl="0" indent="0" marL="0">
              <a:buNone/>
            </a:pPr>
            <a:r>
              <a:rPr/>
              <a:t>本报告旨在提供关于基于视觉的触觉传感器（Vision-Based Tactile Sensor, VBTS）的全面市场与技术分析，为相关企业、投资机构和研究人员提供决策参考。</a:t>
            </a:r>
          </a:p>
          <a:p>
            <a:pPr lvl="0" indent="0" marL="0">
              <a:spcBef>
                <a:spcPts val="3000"/>
              </a:spcBef>
              <a:buNone/>
            </a:pPr>
            <a:r>
              <a:rPr b="1"/>
              <a:t>核心发现</a:t>
            </a:r>
          </a:p>
          <a:p>
            <a:pPr lvl="0" indent="-342900" marL="342900">
              <a:buAutoNum type="arabicPeriod"/>
            </a:pPr>
            <a:r>
              <a:rPr b="1"/>
              <a:t>市场快速增长</a:t>
            </a:r>
            <a:r>
              <a:rPr/>
              <a:t>：视触传感器市场处于高速增长期，预计2024-2034年复合年增长率(CAGR)达10.5%-15.86%</a:t>
            </a:r>
          </a:p>
          <a:p>
            <a:pPr lvl="0" indent="-342900" marL="342900">
              <a:buAutoNum type="arabicPeriod"/>
            </a:pPr>
            <a:r>
              <a:rPr b="1"/>
              <a:t>技术逐步成熟</a:t>
            </a:r>
            <a:r>
              <a:rPr/>
              <a:t>：核心算法和硬件技术已基本成熟，正从实验室向产业化过渡</a:t>
            </a:r>
          </a:p>
          <a:p>
            <a:pPr lvl="0" indent="-342900" marL="342900">
              <a:buAutoNum type="arabicPeriod"/>
            </a:pPr>
            <a:r>
              <a:rPr b="1"/>
              <a:t>应用场景广泛</a:t>
            </a:r>
            <a:r>
              <a:rPr/>
              <a:t>：涵盖工业机器人、医疗健康、消费电子、虚拟现实等多个领域</a:t>
            </a:r>
          </a:p>
          <a:p>
            <a:pPr lvl="0" indent="-342900" marL="342900">
              <a:buAutoNum type="arabicPeriod"/>
            </a:pPr>
            <a:r>
              <a:rPr b="1"/>
              <a:t>竞争格局初现</a:t>
            </a:r>
            <a:r>
              <a:rPr/>
              <a:t>：国际巨头主导市场，中国初创企业崭露头角</a:t>
            </a:r>
          </a:p>
          <a:p>
            <a:pPr lvl="0" indent="-342900" marL="342900">
              <a:buAutoNum type="arabicPeriod"/>
            </a:pPr>
            <a:r>
              <a:rPr b="1"/>
              <a:t>进入门槛较高</a:t>
            </a:r>
            <a:r>
              <a:rPr/>
              <a:t>：技术、制造、认证等多重壁垒构成市场进入挑战</a:t>
            </a:r>
          </a:p>
          <a:p>
            <a:pPr lvl="0" indent="0" marL="0">
              <a:spcBef>
                <a:spcPts val="3000"/>
              </a:spcBef>
              <a:buNone/>
            </a:pPr>
            <a:r>
              <a:rPr b="1"/>
              <a:t>报告结构</a:t>
            </a:r>
          </a:p>
          <a:p>
            <a:pPr lvl="0" indent="-342900" marL="342900">
              <a:buAutoNum type="arabicPeriod"/>
            </a:pPr>
            <a:r>
              <a:rPr/>
              <a:t>市场概况与规模分析</a:t>
            </a:r>
          </a:p>
          <a:p>
            <a:pPr lvl="0" indent="-342900" marL="342900">
              <a:buAutoNum type="arabicPeriod"/>
            </a:pPr>
            <a:r>
              <a:rPr/>
              <a:t>竞争格局与企业分析</a:t>
            </a:r>
          </a:p>
          <a:p>
            <a:pPr lvl="0" indent="-342900" marL="342900">
              <a:buAutoNum type="arabicPeriod"/>
            </a:pPr>
            <a:r>
              <a:rPr/>
              <a:t>技术发展现状与趋势</a:t>
            </a:r>
          </a:p>
          <a:p>
            <a:pPr lvl="0" indent="-342900" marL="342900">
              <a:buAutoNum type="arabicPeriod"/>
            </a:pPr>
            <a:r>
              <a:rPr/>
              <a:t>市场进入挑战与对策</a:t>
            </a:r>
          </a:p>
          <a:p>
            <a:pPr lvl="0" indent="-342900" marL="342900">
              <a:buAutoNum type="arabicPeriod"/>
            </a:pPr>
            <a:r>
              <a:rPr/>
              <a:t>技术验证与性能评估</a:t>
            </a:r>
          </a:p>
          <a:p>
            <a:pPr lvl="0" indent="-342900" marL="342900">
              <a:buAutoNum type="arabicPeriod"/>
            </a:pPr>
            <a:r>
              <a:rPr/>
              <a:t>发展建议与未来展望</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第一章：市场概况与规模分析</a:t>
            </a:r>
          </a:p>
          <a:p>
            <a:pPr lvl="0" indent="0" marL="0">
              <a:spcBef>
                <a:spcPts val="3000"/>
              </a:spcBef>
              <a:buNone/>
            </a:pPr>
            <a:r>
              <a:rPr b="1"/>
              <a:t>1.1 全球市场总体规模</a:t>
            </a:r>
          </a:p>
          <a:p>
            <a:pPr lvl="0" indent="0" marL="0">
              <a:spcBef>
                <a:spcPts val="3000"/>
              </a:spcBef>
              <a:buNone/>
            </a:pPr>
            <a:r>
              <a:rPr b="1"/>
              <a:t>1.1.1 视触传感器细分市场</a:t>
            </a:r>
          </a:p>
          <a:p>
            <a:pPr lvl="0" indent="0" marL="0">
              <a:buNone/>
            </a:pPr>
            <a:r>
              <a:rPr/>
              <a:t>根据Emergen Research（2025）报告： - </a:t>
            </a:r>
            <a:r>
              <a:rPr b="1"/>
              <a:t>2024年市场规模</a:t>
            </a:r>
            <a:r>
              <a:rPr/>
              <a:t>：4.5亿美元（USD 450 million） - </a:t>
            </a:r>
            <a:r>
              <a:rPr b="1"/>
              <a:t>2034年预测规模</a:t>
            </a:r>
            <a:r>
              <a:rPr/>
              <a:t>：12.5亿美元（USD 1.25 billion） - </a:t>
            </a:r>
            <a:r>
              <a:rPr b="1"/>
              <a:t>复合年增长率(CAGR)</a:t>
            </a:r>
            <a:r>
              <a:rPr/>
              <a:t>：10.5%</a:t>
            </a:r>
          </a:p>
          <a:p>
            <a:pPr lvl="0" indent="0" marL="0">
              <a:spcBef>
                <a:spcPts val="3000"/>
              </a:spcBef>
              <a:buNone/>
            </a:pPr>
            <a:r>
              <a:rPr b="1"/>
              <a:t>1.1.2 广义触觉传感器市场</a:t>
            </a:r>
          </a:p>
          <a:p>
            <a:pPr lvl="0" indent="0" marL="0">
              <a:buNone/>
            </a:pPr>
            <a:r>
              <a:rPr/>
              <a:t>根据Mordor Intelligence（2025）报告： - </a:t>
            </a:r>
            <a:r>
              <a:rPr b="1"/>
              <a:t>2025年市场规模</a:t>
            </a:r>
            <a:r>
              <a:rPr/>
              <a:t>：40.1亿美元（USD 4.01 billion） - </a:t>
            </a:r>
            <a:r>
              <a:rPr b="1"/>
              <a:t>2030年预测规模</a:t>
            </a:r>
            <a:r>
              <a:rPr/>
              <a:t>：83.7亿美元（USD 8.37 billion） - </a:t>
            </a:r>
            <a:r>
              <a:rPr b="1"/>
              <a:t>复合年增长率(CAGR)</a:t>
            </a:r>
            <a:r>
              <a:rPr/>
              <a:t>：15.86%</a:t>
            </a:r>
          </a:p>
          <a:p>
            <a:pPr lvl="0" indent="0" marL="0">
              <a:spcBef>
                <a:spcPts val="3000"/>
              </a:spcBef>
              <a:buNone/>
            </a:pPr>
            <a:r>
              <a:rPr b="1"/>
              <a:t>1.1.3 中国市场分析</a:t>
            </a:r>
          </a:p>
          <a:p>
            <a:pPr lvl="0" indent="0" marL="0">
              <a:buNone/>
            </a:pPr>
            <a:r>
              <a:rPr/>
              <a:t>根据QY Research（2025）报告： - </a:t>
            </a:r>
            <a:r>
              <a:rPr b="1"/>
              <a:t>2024年市场规模</a:t>
            </a:r>
            <a:r>
              <a:rPr/>
              <a:t>：8900万美元 - </a:t>
            </a:r>
            <a:r>
              <a:rPr b="1"/>
              <a:t>2031年预测规模</a:t>
            </a:r>
            <a:r>
              <a:rPr/>
              <a:t>：2.09亿美元 - </a:t>
            </a:r>
            <a:r>
              <a:rPr b="1"/>
              <a:t>复合年增长率(CAGR)</a:t>
            </a:r>
            <a:r>
              <a:rPr/>
              <a:t>：13.0%</a:t>
            </a:r>
          </a:p>
          <a:p>
            <a:pPr lvl="0" indent="0" marL="0">
              <a:spcBef>
                <a:spcPts val="3000"/>
              </a:spcBef>
              <a:buNone/>
            </a:pPr>
            <a:r>
              <a:rPr b="1"/>
              <a:t>1.2 市场细分分析</a:t>
            </a:r>
          </a:p>
          <a:p>
            <a:pPr lvl="0" indent="0" marL="0">
              <a:spcBef>
                <a:spcPts val="3000"/>
              </a:spcBef>
              <a:buNone/>
            </a:pPr>
            <a:r>
              <a:rPr b="1"/>
              <a:t>1.2.1 按应用领域细分</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应用领域</a:t>
                      </a:r>
                    </a:p>
                  </a:txBody>
                  <a:tcPr/>
                </a:tc>
                <a:tc>
                  <a:txBody>
                    <a:bodyPr/>
                    <a:lstStyle/>
                    <a:p>
                      <a:pPr lvl="0" indent="0" marL="0">
                        <a:buNone/>
                      </a:pPr>
                      <a:r>
                        <a:rPr/>
                        <a:t>市场份额（2024）</a:t>
                      </a:r>
                    </a:p>
                  </a:txBody>
                  <a:tcPr/>
                </a:tc>
                <a:tc>
                  <a:txBody>
                    <a:bodyPr/>
                    <a:lstStyle/>
                    <a:p>
                      <a:pPr lvl="0" indent="0" marL="0">
                        <a:buNone/>
                      </a:pPr>
                      <a:r>
                        <a:rPr/>
                        <a:t>增长率</a:t>
                      </a:r>
                    </a:p>
                  </a:txBody>
                  <a:tcPr/>
                </a:tc>
                <a:tc>
                  <a:txBody>
                    <a:bodyPr/>
                    <a:lstStyle/>
                    <a:p>
                      <a:pPr lvl="0" indent="0" marL="0">
                        <a:buNone/>
                      </a:pPr>
                      <a:r>
                        <a:rPr/>
                        <a:t>主要驱动因素</a:t>
                      </a:r>
                    </a:p>
                  </a:txBody>
                  <a:tcPr/>
                </a:tc>
              </a:tr>
              <a:tr h="0">
                <a:tc>
                  <a:txBody>
                    <a:bodyPr/>
                    <a:lstStyle/>
                    <a:p>
                      <a:pPr lvl="0" indent="0" marL="0">
                        <a:buNone/>
                      </a:pPr>
                      <a:r>
                        <a:rPr b="1"/>
                        <a:t>工业机器人</a:t>
                      </a:r>
                    </a:p>
                  </a:txBody>
                </a:tc>
                <a:tc>
                  <a:txBody>
                    <a:bodyPr/>
                    <a:lstStyle/>
                    <a:p>
                      <a:pPr lvl="0" indent="0" marL="0">
                        <a:buNone/>
                      </a:pPr>
                      <a:r>
                        <a:rPr/>
                        <a:t>45%</a:t>
                      </a:r>
                    </a:p>
                  </a:txBody>
                </a:tc>
                <a:tc>
                  <a:txBody>
                    <a:bodyPr/>
                    <a:lstStyle/>
                    <a:p>
                      <a:pPr lvl="0" indent="0" marL="0">
                        <a:buNone/>
                      </a:pPr>
                      <a:r>
                        <a:rPr/>
                        <a:t>12%</a:t>
                      </a:r>
                    </a:p>
                  </a:txBody>
                </a:tc>
                <a:tc>
                  <a:txBody>
                    <a:bodyPr/>
                    <a:lstStyle/>
                    <a:p>
                      <a:pPr lvl="0" indent="0" marL="0">
                        <a:buNone/>
                      </a:pPr>
                      <a:r>
                        <a:rPr/>
                        <a:t>制造业自动化升级，劳动力成本上升</a:t>
                      </a:r>
                    </a:p>
                  </a:txBody>
                </a:tc>
              </a:tr>
              <a:tr h="0">
                <a:tc>
                  <a:txBody>
                    <a:bodyPr/>
                    <a:lstStyle/>
                    <a:p>
                      <a:pPr lvl="0" indent="0" marL="0">
                        <a:buNone/>
                      </a:pPr>
                      <a:r>
                        <a:rPr b="1"/>
                        <a:t>医疗健康</a:t>
                      </a:r>
                    </a:p>
                  </a:txBody>
                </a:tc>
                <a:tc>
                  <a:txBody>
                    <a:bodyPr/>
                    <a:lstStyle/>
                    <a:p>
                      <a:pPr lvl="0" indent="0" marL="0">
                        <a:buNone/>
                      </a:pPr>
                      <a:r>
                        <a:rPr/>
                        <a:t>30%</a:t>
                      </a:r>
                    </a:p>
                  </a:txBody>
                </a:tc>
                <a:tc>
                  <a:txBody>
                    <a:bodyPr/>
                    <a:lstStyle/>
                    <a:p>
                      <a:pPr lvl="0" indent="0" marL="0">
                        <a:buNone/>
                      </a:pPr>
                      <a:r>
                        <a:rPr/>
                        <a:t>15%</a:t>
                      </a:r>
                    </a:p>
                  </a:txBody>
                </a:tc>
                <a:tc>
                  <a:txBody>
                    <a:bodyPr/>
                    <a:lstStyle/>
                    <a:p>
                      <a:pPr lvl="0" indent="0" marL="0">
                        <a:buNone/>
                      </a:pPr>
                      <a:r>
                        <a:rPr/>
                        <a:t>手术机器人普及，老龄化社会需求</a:t>
                      </a:r>
                    </a:p>
                  </a:txBody>
                </a:tc>
              </a:tr>
              <a:tr h="0">
                <a:tc>
                  <a:txBody>
                    <a:bodyPr/>
                    <a:lstStyle/>
                    <a:p>
                      <a:pPr lvl="0" indent="0" marL="0">
                        <a:buNone/>
                      </a:pPr>
                      <a:r>
                        <a:rPr b="1"/>
                        <a:t>消费电子</a:t>
                      </a:r>
                    </a:p>
                  </a:txBody>
                </a:tc>
                <a:tc>
                  <a:txBody>
                    <a:bodyPr/>
                    <a:lstStyle/>
                    <a:p>
                      <a:pPr lvl="0" indent="0" marL="0">
                        <a:buNone/>
                      </a:pPr>
                      <a:r>
                        <a:rPr/>
                        <a:t>20%</a:t>
                      </a:r>
                    </a:p>
                  </a:txBody>
                </a:tc>
                <a:tc>
                  <a:txBody>
                    <a:bodyPr/>
                    <a:lstStyle/>
                    <a:p>
                      <a:pPr lvl="0" indent="0" marL="0">
                        <a:buNone/>
                      </a:pPr>
                      <a:r>
                        <a:rPr/>
                        <a:t>14%</a:t>
                      </a:r>
                    </a:p>
                  </a:txBody>
                </a:tc>
                <a:tc>
                  <a:txBody>
                    <a:bodyPr/>
                    <a:lstStyle/>
                    <a:p>
                      <a:pPr lvl="0" indent="0" marL="0">
                        <a:buNone/>
                      </a:pPr>
                      <a:r>
                        <a:rPr/>
                        <a:t>VR/AR设备发展，人机交互创新</a:t>
                      </a:r>
                    </a:p>
                  </a:txBody>
                </a:tc>
              </a:tr>
              <a:tr h="0">
                <a:tc>
                  <a:txBody>
                    <a:bodyPr/>
                    <a:lstStyle/>
                    <a:p>
                      <a:pPr lvl="0" indent="0" marL="0">
                        <a:buNone/>
                      </a:pPr>
                      <a:r>
                        <a:rPr b="1"/>
                        <a:t>其他领域</a:t>
                      </a:r>
                    </a:p>
                  </a:txBody>
                </a:tc>
                <a:tc>
                  <a:txBody>
                    <a:bodyPr/>
                    <a:lstStyle/>
                    <a:p>
                      <a:pPr lvl="0" indent="0" marL="0">
                        <a:buNone/>
                      </a:pPr>
                      <a:r>
                        <a:rPr/>
                        <a:t>5%</a:t>
                      </a:r>
                    </a:p>
                  </a:txBody>
                </a:tc>
                <a:tc>
                  <a:txBody>
                    <a:bodyPr/>
                    <a:lstStyle/>
                    <a:p>
                      <a:pPr lvl="0" indent="0" marL="0">
                        <a:buNone/>
                      </a:pPr>
                      <a:r>
                        <a:rPr/>
                        <a:t>10%</a:t>
                      </a:r>
                    </a:p>
                  </a:txBody>
                </a:tc>
                <a:tc>
                  <a:txBody>
                    <a:bodyPr/>
                    <a:lstStyle/>
                    <a:p>
                      <a:pPr lvl="0" indent="0" marL="0">
                        <a:buNone/>
                      </a:pPr>
                      <a:r>
                        <a:rPr/>
                        <a:t>教育、科研等应用</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1.2.2 按地区分布</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地区</a:t>
                      </a:r>
                    </a:p>
                  </a:txBody>
                  <a:tcPr/>
                </a:tc>
                <a:tc>
                  <a:txBody>
                    <a:bodyPr/>
                    <a:lstStyle/>
                    <a:p>
                      <a:pPr lvl="0" indent="0" marL="0">
                        <a:buNone/>
                      </a:pPr>
                      <a:r>
                        <a:rPr/>
                        <a:t>市场份额</a:t>
                      </a:r>
                    </a:p>
                  </a:txBody>
                  <a:tcPr/>
                </a:tc>
                <a:tc>
                  <a:txBody>
                    <a:bodyPr/>
                    <a:lstStyle/>
                    <a:p>
                      <a:pPr lvl="0" indent="0" marL="0">
                        <a:buNone/>
                      </a:pPr>
                      <a:r>
                        <a:rPr/>
                        <a:t>主要驱动因素</a:t>
                      </a:r>
                    </a:p>
                  </a:txBody>
                  <a:tcPr/>
                </a:tc>
                <a:tc>
                  <a:txBody>
                    <a:bodyPr/>
                    <a:lstStyle/>
                    <a:p>
                      <a:pPr lvl="0" indent="0" marL="0">
                        <a:buNone/>
                      </a:pPr>
                      <a:r>
                        <a:rPr/>
                        <a:t>代表企业</a:t>
                      </a:r>
                    </a:p>
                  </a:txBody>
                  <a:tcPr/>
                </a:tc>
              </a:tr>
              <a:tr h="0">
                <a:tc>
                  <a:txBody>
                    <a:bodyPr/>
                    <a:lstStyle/>
                    <a:p>
                      <a:pPr lvl="0" indent="0" marL="0">
                        <a:buNone/>
                      </a:pPr>
                      <a:r>
                        <a:rPr b="1"/>
                        <a:t>北美</a:t>
                      </a:r>
                    </a:p>
                  </a:txBody>
                </a:tc>
                <a:tc>
                  <a:txBody>
                    <a:bodyPr/>
                    <a:lstStyle/>
                    <a:p>
                      <a:pPr lvl="0" indent="0" marL="0">
                        <a:buNone/>
                      </a:pPr>
                      <a:r>
                        <a:rPr/>
                        <a:t>35%</a:t>
                      </a:r>
                    </a:p>
                  </a:txBody>
                </a:tc>
                <a:tc>
                  <a:txBody>
                    <a:bodyPr/>
                    <a:lstStyle/>
                    <a:p>
                      <a:pPr lvl="0" indent="0" marL="0">
                        <a:buNone/>
                      </a:pPr>
                      <a:r>
                        <a:rPr/>
                        <a:t>技术创新，医疗应用需求</a:t>
                      </a:r>
                    </a:p>
                  </a:txBody>
                </a:tc>
                <a:tc>
                  <a:txBody>
                    <a:bodyPr/>
                    <a:lstStyle/>
                    <a:p>
                      <a:pPr lvl="0" indent="0" marL="0">
                        <a:buNone/>
                      </a:pPr>
                      <a:r>
                        <a:rPr/>
                        <a:t>GelSight, Pressure Profile Systems, SynTouch</a:t>
                      </a:r>
                    </a:p>
                  </a:txBody>
                </a:tc>
              </a:tr>
              <a:tr h="0">
                <a:tc>
                  <a:txBody>
                    <a:bodyPr/>
                    <a:lstStyle/>
                    <a:p>
                      <a:pPr lvl="0" indent="0" marL="0">
                        <a:buNone/>
                      </a:pPr>
                      <a:r>
                        <a:rPr b="1"/>
                        <a:t>欧洲</a:t>
                      </a:r>
                    </a:p>
                  </a:txBody>
                </a:tc>
                <a:tc>
                  <a:txBody>
                    <a:bodyPr/>
                    <a:lstStyle/>
                    <a:p>
                      <a:pPr lvl="0" indent="0" marL="0">
                        <a:buNone/>
                      </a:pPr>
                      <a:r>
                        <a:rPr/>
                        <a:t>25%</a:t>
                      </a:r>
                    </a:p>
                  </a:txBody>
                </a:tc>
                <a:tc>
                  <a:txBody>
                    <a:bodyPr/>
                    <a:lstStyle/>
                    <a:p>
                      <a:pPr lvl="0" indent="0" marL="0">
                        <a:buNone/>
                      </a:pPr>
                      <a:r>
                        <a:rPr/>
                        <a:t>工业自动化，高质量标准</a:t>
                      </a:r>
                    </a:p>
                  </a:txBody>
                </a:tc>
                <a:tc>
                  <a:txBody>
                    <a:bodyPr/>
                    <a:lstStyle/>
                    <a:p>
                      <a:pPr lvl="0" indent="0" marL="0">
                        <a:buNone/>
                      </a:pPr>
                      <a:r>
                        <a:rPr/>
                        <a:t>ABB, KUKA, Tekscan</a:t>
                      </a:r>
                    </a:p>
                  </a:txBody>
                </a:tc>
              </a:tr>
              <a:tr h="0">
                <a:tc>
                  <a:txBody>
                    <a:bodyPr/>
                    <a:lstStyle/>
                    <a:p>
                      <a:pPr lvl="0" indent="0" marL="0">
                        <a:buNone/>
                      </a:pPr>
                      <a:r>
                        <a:rPr b="1"/>
                        <a:t>亚太</a:t>
                      </a:r>
                    </a:p>
                  </a:txBody>
                </a:tc>
                <a:tc>
                  <a:txBody>
                    <a:bodyPr/>
                    <a:lstStyle/>
                    <a:p>
                      <a:pPr lvl="0" indent="0" marL="0">
                        <a:buNone/>
                      </a:pPr>
                      <a:r>
                        <a:rPr/>
                        <a:t>30%</a:t>
                      </a:r>
                    </a:p>
                  </a:txBody>
                </a:tc>
                <a:tc>
                  <a:txBody>
                    <a:bodyPr/>
                    <a:lstStyle/>
                    <a:p>
                      <a:pPr lvl="0" indent="0" marL="0">
                        <a:buNone/>
                      </a:pPr>
                      <a:r>
                        <a:rPr/>
                        <a:t>制造业发展，成本优势</a:t>
                      </a:r>
                    </a:p>
                  </a:txBody>
                </a:tc>
                <a:tc>
                  <a:txBody>
                    <a:bodyPr/>
                    <a:lstStyle/>
                    <a:p>
                      <a:pPr lvl="0" indent="0" marL="0">
                        <a:buNone/>
                      </a:pPr>
                      <a:r>
                        <a:rPr/>
                        <a:t>中国初创企业，日本机器人公司</a:t>
                      </a:r>
                    </a:p>
                  </a:txBody>
                </a:tc>
              </a:tr>
              <a:tr h="0">
                <a:tc>
                  <a:txBody>
                    <a:bodyPr/>
                    <a:lstStyle/>
                    <a:p>
                      <a:pPr lvl="0" indent="0" marL="0">
                        <a:buNone/>
                      </a:pPr>
                      <a:r>
                        <a:rPr b="1"/>
                        <a:t>其他地区</a:t>
                      </a:r>
                    </a:p>
                  </a:txBody>
                </a:tc>
                <a:tc>
                  <a:txBody>
                    <a:bodyPr/>
                    <a:lstStyle/>
                    <a:p>
                      <a:pPr lvl="0" indent="0" marL="0">
                        <a:buNone/>
                      </a:pPr>
                      <a:r>
                        <a:rPr/>
                        <a:t>10%</a:t>
                      </a:r>
                    </a:p>
                  </a:txBody>
                </a:tc>
                <a:tc>
                  <a:txBody>
                    <a:bodyPr/>
                    <a:lstStyle/>
                    <a:p>
                      <a:pPr lvl="0" indent="0" marL="0">
                        <a:buNone/>
                      </a:pPr>
                      <a:r>
                        <a:rPr/>
                        <a:t>新兴市场增长</a:t>
                      </a:r>
                    </a:p>
                  </a:txBody>
                </a:tc>
                <a:tc>
                  <a:txBody>
                    <a:bodyPr/>
                    <a:lstStyle/>
                    <a:p>
                      <a:pPr lvl="0" indent="0" marL="0">
                        <a:buNone/>
                      </a:pPr>
                      <a:r>
                        <a:rPr/>
                        <a:t>地区性企业</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1.3 增长驱动因素</a:t>
            </a:r>
          </a:p>
          <a:p>
            <a:pPr lvl="0" indent="0" marL="0">
              <a:spcBef>
                <a:spcPts val="3000"/>
              </a:spcBef>
              <a:buNone/>
            </a:pPr>
            <a:r>
              <a:rPr b="1"/>
              <a:t>1.3.1 技术驱动</a:t>
            </a:r>
          </a:p>
          <a:p>
            <a:pPr lvl="0" indent="-342900" marL="342900">
              <a:buAutoNum type="arabicPeriod"/>
            </a:pPr>
            <a:r>
              <a:rPr b="1"/>
              <a:t>人工智能算法进步</a:t>
            </a:r>
            <a:r>
              <a:rPr/>
              <a:t>：深度学习提升触觉数据处理能力</a:t>
            </a:r>
          </a:p>
          <a:p>
            <a:pPr lvl="0" indent="-342900" marL="342900">
              <a:buAutoNum type="arabicPeriod"/>
            </a:pPr>
            <a:r>
              <a:rPr b="1"/>
              <a:t>材料科学创新</a:t>
            </a:r>
            <a:r>
              <a:rPr/>
              <a:t>：新型弹性体材料改善传感器性能</a:t>
            </a:r>
          </a:p>
          <a:p>
            <a:pPr lvl="0" indent="-342900" marL="342900">
              <a:buAutoNum type="arabicPeriod"/>
            </a:pPr>
            <a:r>
              <a:rPr b="1"/>
              <a:t>光学技术进步</a:t>
            </a:r>
            <a:r>
              <a:rPr/>
              <a:t>：高分辨率相机模块成本下降</a:t>
            </a:r>
          </a:p>
          <a:p>
            <a:pPr lvl="0" indent="-342900" marL="342900">
              <a:buAutoNum type="arabicPeriod"/>
            </a:pPr>
            <a:r>
              <a:rPr b="1"/>
              <a:t>制造工艺优化</a:t>
            </a:r>
            <a:r>
              <a:rPr/>
              <a:t>：3D打印等快速原型技术普及</a:t>
            </a:r>
          </a:p>
          <a:p>
            <a:pPr lvl="0" indent="0" marL="0">
              <a:spcBef>
                <a:spcPts val="3000"/>
              </a:spcBef>
              <a:buNone/>
            </a:pPr>
            <a:r>
              <a:rPr b="1"/>
              <a:t>1.3.2 需求驱动</a:t>
            </a:r>
          </a:p>
          <a:p>
            <a:pPr lvl="0" indent="-342900" marL="342900">
              <a:buAutoNum type="arabicPeriod"/>
            </a:pPr>
            <a:r>
              <a:rPr b="1"/>
              <a:t>制造业自动化升级</a:t>
            </a:r>
            <a:r>
              <a:rPr/>
              <a:t>：工业4.0推动机器人需求增长</a:t>
            </a:r>
          </a:p>
          <a:p>
            <a:pPr lvl="0" indent="-342900" marL="342900">
              <a:buAutoNum type="arabicPeriod"/>
            </a:pPr>
            <a:r>
              <a:rPr b="1"/>
              <a:t>医疗机器人普及</a:t>
            </a:r>
            <a:r>
              <a:rPr/>
              <a:t>：微创手术、康复治疗需求增加</a:t>
            </a:r>
          </a:p>
          <a:p>
            <a:pPr lvl="0" indent="-342900" marL="342900">
              <a:buAutoNum type="arabicPeriod"/>
            </a:pPr>
            <a:r>
              <a:rPr b="1"/>
              <a:t>消费电子创新</a:t>
            </a:r>
            <a:r>
              <a:rPr/>
              <a:t>：VR/AR、可穿戴设备市场扩张</a:t>
            </a:r>
          </a:p>
          <a:p>
            <a:pPr lvl="0" indent="-342900" marL="342900">
              <a:buAutoNum type="arabicPeriod"/>
            </a:pPr>
            <a:r>
              <a:rPr b="1"/>
              <a:t>劳动力成本上升</a:t>
            </a:r>
            <a:r>
              <a:rPr/>
              <a:t>：全球范围内自动化替代需求</a:t>
            </a:r>
          </a:p>
          <a:p>
            <a:pPr lvl="0" indent="0" marL="0">
              <a:spcBef>
                <a:spcPts val="3000"/>
              </a:spcBef>
              <a:buNone/>
            </a:pPr>
            <a:r>
              <a:rPr b="1"/>
              <a:t>1.3.3 政策驱动</a:t>
            </a:r>
          </a:p>
          <a:p>
            <a:pPr lvl="0" indent="-342900" marL="342900">
              <a:buAutoNum type="arabicPeriod"/>
            </a:pPr>
            <a:r>
              <a:rPr b="1"/>
              <a:t>智能制造政策</a:t>
            </a:r>
            <a:r>
              <a:rPr/>
              <a:t>：各国政府推动制造业转型升级</a:t>
            </a:r>
          </a:p>
          <a:p>
            <a:pPr lvl="0" indent="-342900" marL="342900">
              <a:buAutoNum type="arabicPeriod"/>
            </a:pPr>
            <a:r>
              <a:rPr b="1"/>
              <a:t>医疗创新支持</a:t>
            </a:r>
            <a:r>
              <a:rPr/>
              <a:t>：医疗器械创新政策支持</a:t>
            </a:r>
          </a:p>
          <a:p>
            <a:pPr lvl="0" indent="-342900" marL="342900">
              <a:buAutoNum type="arabicPeriod"/>
            </a:pPr>
            <a:r>
              <a:rPr b="1"/>
              <a:t>科研经费投入</a:t>
            </a:r>
            <a:r>
              <a:rPr/>
              <a:t>：高校和研究机构技术研发资助</a:t>
            </a:r>
          </a:p>
          <a:p>
            <a:pPr lvl="0" indent="0" marL="0">
              <a:spcBef>
                <a:spcPts val="3000"/>
              </a:spcBef>
              <a:buNone/>
            </a:pPr>
            <a:r>
              <a:rPr b="1"/>
              <a:t>1.4 市场发展趋势</a:t>
            </a:r>
          </a:p>
          <a:p>
            <a:pPr lvl="0" indent="0" marL="0">
              <a:spcBef>
                <a:spcPts val="3000"/>
              </a:spcBef>
              <a:buNone/>
            </a:pPr>
            <a:r>
              <a:rPr b="1"/>
              <a:t>1.4.1 短期趋势（1-3年）</a:t>
            </a:r>
          </a:p>
          <a:p>
            <a:pPr lvl="0" indent="-342900" marL="342900">
              <a:buAutoNum type="arabicPeriod"/>
            </a:pPr>
            <a:r>
              <a:rPr b="1"/>
              <a:t>性能提升</a:t>
            </a:r>
            <a:r>
              <a:rPr/>
              <a:t>：分辨率从毫米级向亚毫米级发展</a:t>
            </a:r>
          </a:p>
          <a:p>
            <a:pPr lvl="0" indent="-342900" marL="342900">
              <a:buAutoNum type="arabicPeriod"/>
            </a:pPr>
            <a:r>
              <a:rPr b="1"/>
              <a:t>成本下降</a:t>
            </a:r>
            <a:r>
              <a:rPr/>
              <a:t>：规模化生产使传感器价格下降30-50%</a:t>
            </a:r>
          </a:p>
          <a:p>
            <a:pPr lvl="0" indent="-342900" marL="342900">
              <a:buAutoNum type="arabicPeriod"/>
            </a:pPr>
            <a:r>
              <a:rPr b="1"/>
              <a:t>应用拓展</a:t>
            </a:r>
            <a:r>
              <a:rPr/>
              <a:t>：从实验室向工业现场应用过渡</a:t>
            </a:r>
          </a:p>
          <a:p>
            <a:pPr lvl="0" indent="0" marL="0">
              <a:spcBef>
                <a:spcPts val="3000"/>
              </a:spcBef>
              <a:buNone/>
            </a:pPr>
            <a:r>
              <a:rPr b="1"/>
              <a:t>1.4.2 中期趋势（3-5年）</a:t>
            </a:r>
          </a:p>
          <a:p>
            <a:pPr lvl="0" indent="-342900" marL="342900">
              <a:buAutoNum type="arabicPeriod"/>
            </a:pPr>
            <a:r>
              <a:rPr b="1"/>
              <a:t>标准化</a:t>
            </a:r>
            <a:r>
              <a:rPr/>
              <a:t>：接口标准、测试标准逐步建立</a:t>
            </a:r>
          </a:p>
          <a:p>
            <a:pPr lvl="0" indent="-342900" marL="342900">
              <a:buAutoNum type="arabicPeriod"/>
            </a:pPr>
            <a:r>
              <a:rPr b="1"/>
              <a:t>集成化</a:t>
            </a:r>
            <a:r>
              <a:rPr/>
              <a:t>：与机器人控制系统深度集成</a:t>
            </a:r>
          </a:p>
          <a:p>
            <a:pPr lvl="0" indent="-342900" marL="342900">
              <a:buAutoNum type="arabicPeriod"/>
            </a:pPr>
            <a:r>
              <a:rPr b="1"/>
              <a:t>生态建设</a:t>
            </a:r>
            <a:r>
              <a:rPr/>
              <a:t>：开发者社区、应用生态完善</a:t>
            </a:r>
          </a:p>
          <a:p>
            <a:pPr lvl="0" indent="0" marL="0">
              <a:spcBef>
                <a:spcPts val="3000"/>
              </a:spcBef>
              <a:buNone/>
            </a:pPr>
            <a:r>
              <a:rPr b="1"/>
              <a:t>1.4.3 长期趋势（5年以上）</a:t>
            </a:r>
          </a:p>
          <a:p>
            <a:pPr lvl="0" indent="-342900" marL="342900">
              <a:buAutoNum type="arabicPeriod"/>
            </a:pPr>
            <a:r>
              <a:rPr b="1"/>
              <a:t>智能化</a:t>
            </a:r>
            <a:r>
              <a:rPr/>
              <a:t>：具备自主学习和适应能力</a:t>
            </a:r>
          </a:p>
          <a:p>
            <a:pPr lvl="0" indent="-342900" marL="342900">
              <a:buAutoNum type="arabicPeriod"/>
            </a:pPr>
            <a:r>
              <a:rPr b="1"/>
              <a:t>柔性化</a:t>
            </a:r>
            <a:r>
              <a:rPr/>
              <a:t>：可弯曲、可拉伸传感器技术成熟</a:t>
            </a:r>
          </a:p>
          <a:p>
            <a:pPr lvl="0" indent="-342900" marL="342900">
              <a:buAutoNum type="arabicPeriod"/>
            </a:pPr>
            <a:r>
              <a:rPr b="1"/>
              <a:t>多模态融合</a:t>
            </a:r>
            <a:r>
              <a:rPr/>
              <a:t>：视觉、触觉、温度等多传感信息融合</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第二章：竞争格局与企业分析</a:t>
            </a:r>
          </a:p>
          <a:p>
            <a:pPr lvl="0" indent="0" marL="0">
              <a:spcBef>
                <a:spcPts val="3000"/>
              </a:spcBef>
              <a:buNone/>
            </a:pPr>
            <a:r>
              <a:rPr b="1"/>
              <a:t>2.1 全球竞争格局</a:t>
            </a:r>
          </a:p>
          <a:p>
            <a:pPr lvl="0" indent="0" marL="0">
              <a:spcBef>
                <a:spcPts val="3000"/>
              </a:spcBef>
              <a:buNone/>
            </a:pPr>
            <a:r>
              <a:rPr b="1"/>
              <a:t>2.1.1 市场参与者类型</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参与者类型</a:t>
                      </a:r>
                    </a:p>
                  </a:txBody>
                  <a:tcPr/>
                </a:tc>
                <a:tc>
                  <a:txBody>
                    <a:bodyPr/>
                    <a:lstStyle/>
                    <a:p>
                      <a:pPr lvl="0" indent="0" marL="0">
                        <a:buNone/>
                      </a:pPr>
                      <a:r>
                        <a:rPr/>
                        <a:t>代表企业</a:t>
                      </a:r>
                    </a:p>
                  </a:txBody>
                  <a:tcPr/>
                </a:tc>
                <a:tc>
                  <a:txBody>
                    <a:bodyPr/>
                    <a:lstStyle/>
                    <a:p>
                      <a:pPr lvl="0" indent="0" marL="0">
                        <a:buNone/>
                      </a:pPr>
                      <a:r>
                        <a:rPr/>
                        <a:t>竞争优势</a:t>
                      </a:r>
                    </a:p>
                  </a:txBody>
                  <a:tcPr/>
                </a:tc>
                <a:tc>
                  <a:txBody>
                    <a:bodyPr/>
                    <a:lstStyle/>
                    <a:p>
                      <a:pPr lvl="0" indent="0" marL="0">
                        <a:buNone/>
                      </a:pPr>
                      <a:r>
                        <a:rPr/>
                        <a:t>市场份额</a:t>
                      </a:r>
                    </a:p>
                  </a:txBody>
                  <a:tcPr/>
                </a:tc>
              </a:tr>
              <a:tr h="0">
                <a:tc>
                  <a:txBody>
                    <a:bodyPr/>
                    <a:lstStyle/>
                    <a:p>
                      <a:pPr lvl="0" indent="0" marL="0">
                        <a:buNone/>
                      </a:pPr>
                      <a:r>
                        <a:rPr b="1"/>
                        <a:t>传感器制造商</a:t>
                      </a:r>
                    </a:p>
                  </a:txBody>
                </a:tc>
                <a:tc>
                  <a:txBody>
                    <a:bodyPr/>
                    <a:lstStyle/>
                    <a:p>
                      <a:pPr lvl="0" indent="0" marL="0">
                        <a:buNone/>
                      </a:pPr>
                      <a:r>
                        <a:rPr/>
                        <a:t>GelSight, Pressure Profile Systems, Tekscan</a:t>
                      </a:r>
                    </a:p>
                  </a:txBody>
                </a:tc>
                <a:tc>
                  <a:txBody>
                    <a:bodyPr/>
                    <a:lstStyle/>
                    <a:p>
                      <a:pPr lvl="0" indent="0" marL="0">
                        <a:buNone/>
                      </a:pPr>
                      <a:r>
                        <a:rPr/>
                        <a:t>核心技术，产品成熟度高</a:t>
                      </a:r>
                    </a:p>
                  </a:txBody>
                </a:tc>
                <a:tc>
                  <a:txBody>
                    <a:bodyPr/>
                    <a:lstStyle/>
                    <a:p>
                      <a:pPr lvl="0" indent="0" marL="0">
                        <a:buNone/>
                      </a:pPr>
                      <a:r>
                        <a:rPr/>
                        <a:t>25%</a:t>
                      </a:r>
                    </a:p>
                  </a:txBody>
                </a:tc>
              </a:tr>
              <a:tr h="0">
                <a:tc>
                  <a:txBody>
                    <a:bodyPr/>
                    <a:lstStyle/>
                    <a:p>
                      <a:pPr lvl="0" indent="0" marL="0">
                        <a:buNone/>
                      </a:pPr>
                      <a:r>
                        <a:rPr b="1"/>
                        <a:t>系统集成商</a:t>
                      </a:r>
                    </a:p>
                  </a:txBody>
                </a:tc>
                <a:tc>
                  <a:txBody>
                    <a:bodyPr/>
                    <a:lstStyle/>
                    <a:p>
                      <a:pPr lvl="0" indent="0" marL="0">
                        <a:buNone/>
                      </a:pPr>
                      <a:r>
                        <a:rPr/>
                        <a:t>ABB, KUKA, Fanuc, Universal Robots</a:t>
                      </a:r>
                    </a:p>
                  </a:txBody>
                </a:tc>
                <a:tc>
                  <a:txBody>
                    <a:bodyPr/>
                    <a:lstStyle/>
                    <a:p>
                      <a:pPr lvl="0" indent="0" marL="0">
                        <a:buNone/>
                      </a:pPr>
                      <a:r>
                        <a:rPr/>
                        <a:t>应用解决方案，客户基础广</a:t>
                      </a:r>
                    </a:p>
                  </a:txBody>
                </a:tc>
                <a:tc>
                  <a:txBody>
                    <a:bodyPr/>
                    <a:lstStyle/>
                    <a:p>
                      <a:pPr lvl="0" indent="0" marL="0">
                        <a:buNone/>
                      </a:pPr>
                      <a:r>
                        <a:rPr/>
                        <a:t>35%</a:t>
                      </a:r>
                    </a:p>
                  </a:txBody>
                </a:tc>
              </a:tr>
              <a:tr h="0">
                <a:tc>
                  <a:txBody>
                    <a:bodyPr/>
                    <a:lstStyle/>
                    <a:p>
                      <a:pPr lvl="0" indent="0" marL="0">
                        <a:buNone/>
                      </a:pPr>
                      <a:r>
                        <a:rPr b="1"/>
                        <a:t>医疗设备公司</a:t>
                      </a:r>
                    </a:p>
                  </a:txBody>
                </a:tc>
                <a:tc>
                  <a:txBody>
                    <a:bodyPr/>
                    <a:lstStyle/>
                    <a:p>
                      <a:pPr lvl="0" indent="0" marL="0">
                        <a:buNone/>
                      </a:pPr>
                      <a:r>
                        <a:rPr/>
                        <a:t>Intuitive Surgical, Medtronic, Stryker</a:t>
                      </a:r>
                    </a:p>
                  </a:txBody>
                </a:tc>
                <a:tc>
                  <a:txBody>
                    <a:bodyPr/>
                    <a:lstStyle/>
                    <a:p>
                      <a:pPr lvl="0" indent="0" marL="0">
                        <a:buNone/>
                      </a:pPr>
                      <a:r>
                        <a:rPr/>
                        <a:t>医疗认证，临床经验丰富</a:t>
                      </a:r>
                    </a:p>
                  </a:txBody>
                </a:tc>
                <a:tc>
                  <a:txBody>
                    <a:bodyPr/>
                    <a:lstStyle/>
                    <a:p>
                      <a:pPr lvl="0" indent="0" marL="0">
                        <a:buNone/>
                      </a:pPr>
                      <a:r>
                        <a:rPr/>
                        <a:t>20%</a:t>
                      </a:r>
                    </a:p>
                  </a:txBody>
                </a:tc>
              </a:tr>
              <a:tr h="0">
                <a:tc>
                  <a:txBody>
                    <a:bodyPr/>
                    <a:lstStyle/>
                    <a:p>
                      <a:pPr lvl="0" indent="0" marL="0">
                        <a:buNone/>
                      </a:pPr>
                      <a:r>
                        <a:rPr b="1"/>
                        <a:t>消费电子公司</a:t>
                      </a:r>
                    </a:p>
                  </a:txBody>
                </a:tc>
                <a:tc>
                  <a:txBody>
                    <a:bodyPr/>
                    <a:lstStyle/>
                    <a:p>
                      <a:pPr lvl="0" indent="0" marL="0">
                        <a:buNone/>
                      </a:pPr>
                      <a:r>
                        <a:rPr/>
                        <a:t>Apple, Meta, Sony</a:t>
                      </a:r>
                    </a:p>
                  </a:txBody>
                </a:tc>
                <a:tc>
                  <a:txBody>
                    <a:bodyPr/>
                    <a:lstStyle/>
                    <a:p>
                      <a:pPr lvl="0" indent="0" marL="0">
                        <a:buNone/>
                      </a:pPr>
                      <a:r>
                        <a:rPr/>
                        <a:t>用户体验，市场规模大</a:t>
                      </a:r>
                    </a:p>
                  </a:txBody>
                </a:tc>
                <a:tc>
                  <a:txBody>
                    <a:bodyPr/>
                    <a:lstStyle/>
                    <a:p>
                      <a:pPr lvl="0" indent="0" marL="0">
                        <a:buNone/>
                      </a:pPr>
                      <a:r>
                        <a:rPr/>
                        <a:t>15%</a:t>
                      </a:r>
                    </a:p>
                  </a:txBody>
                </a:tc>
              </a:tr>
              <a:tr h="0">
                <a:tc>
                  <a:txBody>
                    <a:bodyPr/>
                    <a:lstStyle/>
                    <a:p>
                      <a:pPr lvl="0" indent="0" marL="0">
                        <a:buNone/>
                      </a:pPr>
                      <a:r>
                        <a:rPr b="1"/>
                        <a:t>初创公司</a:t>
                      </a:r>
                    </a:p>
                  </a:txBody>
                </a:tc>
                <a:tc>
                  <a:txBody>
                    <a:bodyPr/>
                    <a:lstStyle/>
                    <a:p>
                      <a:pPr lvl="0" indent="0" marL="0">
                        <a:buNone/>
                      </a:pPr>
                      <a:r>
                        <a:rPr/>
                        <a:t>Weart, HaptX, Tactile Robotics</a:t>
                      </a:r>
                    </a:p>
                  </a:txBody>
                </a:tc>
                <a:tc>
                  <a:txBody>
                    <a:bodyPr/>
                    <a:lstStyle/>
                    <a:p>
                      <a:pPr lvl="0" indent="0" marL="0">
                        <a:buNone/>
                      </a:pPr>
                      <a:r>
                        <a:rPr/>
                        <a:t>技术创新，灵活性强</a:t>
                      </a:r>
                    </a:p>
                  </a:txBody>
                </a:tc>
                <a:tc>
                  <a:txBody>
                    <a:bodyPr/>
                    <a:lstStyle/>
                    <a:p>
                      <a:pPr lvl="0" indent="0" marL="0">
                        <a:buNone/>
                      </a:pPr>
                      <a:r>
                        <a:rPr/>
                        <a:t>5%</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2.1.2 市场集中度分析</a:t>
            </a:r>
          </a:p>
          <a:p>
            <a:pPr lvl="0"/>
            <a:r>
              <a:rPr b="1"/>
              <a:t>CR3（前三家企业集中度）</a:t>
            </a:r>
            <a:r>
              <a:rPr/>
              <a:t>：约40%</a:t>
            </a:r>
          </a:p>
          <a:p>
            <a:pPr lvl="0"/>
            <a:r>
              <a:rPr b="1"/>
              <a:t>CR5（前五家企业集中度）</a:t>
            </a:r>
            <a:r>
              <a:rPr/>
              <a:t>：约55%</a:t>
            </a:r>
          </a:p>
          <a:p>
            <a:pPr lvl="0"/>
            <a:r>
              <a:rPr b="1"/>
              <a:t>市场特征</a:t>
            </a:r>
            <a:r>
              <a:rPr/>
              <a:t>：中度集中，技术领导者与细分市场领导者并存</a:t>
            </a:r>
          </a:p>
          <a:p>
            <a:pPr lvl="0" indent="0" marL="0">
              <a:spcBef>
                <a:spcPts val="3000"/>
              </a:spcBef>
              <a:buNone/>
            </a:pPr>
            <a:r>
              <a:rPr b="1"/>
              <a:t>2.2 主要企业深度分析</a:t>
            </a:r>
          </a:p>
          <a:p>
            <a:pPr lvl="0" indent="0" marL="0">
              <a:spcBef>
                <a:spcPts val="3000"/>
              </a:spcBef>
              <a:buNone/>
            </a:pPr>
            <a:r>
              <a:rPr b="1"/>
              <a:t>2.2.1 GelSight Inc.（美国）</a:t>
            </a:r>
          </a:p>
          <a:p>
            <a:pPr lvl="0"/>
            <a:r>
              <a:rPr b="1"/>
              <a:t>成立时间</a:t>
            </a:r>
            <a:r>
              <a:rPr/>
              <a:t>：2014年</a:t>
            </a:r>
          </a:p>
          <a:p>
            <a:pPr lvl="0"/>
            <a:r>
              <a:rPr b="1"/>
              <a:t>核心技术</a:t>
            </a:r>
            <a:r>
              <a:rPr/>
              <a:t>：基于光度立体视觉的触觉传感技术</a:t>
            </a:r>
          </a:p>
          <a:p>
            <a:pPr lvl="0"/>
            <a:r>
              <a:rPr b="1"/>
              <a:t>技术优势</a:t>
            </a:r>
            <a:r>
              <a:rPr/>
              <a:t>：</a:t>
            </a:r>
          </a:p>
          <a:p>
            <a:pPr lvl="1" indent="-342900" marL="685800">
              <a:buAutoNum type="arabicPeriod"/>
            </a:pPr>
            <a:r>
              <a:rPr/>
              <a:t>亚毫米级空间分辨率</a:t>
            </a:r>
          </a:p>
          <a:p>
            <a:pPr lvl="1" indent="-342900" marL="685800">
              <a:buAutoNum type="arabicPeriod"/>
            </a:pPr>
            <a:r>
              <a:rPr/>
              <a:t>三维几何形状精确测量</a:t>
            </a:r>
          </a:p>
          <a:p>
            <a:pPr lvl="1" indent="-342900" marL="685800">
              <a:buAutoNum type="arabicPeriod"/>
            </a:pPr>
            <a:r>
              <a:rPr/>
              <a:t>成熟的工业应用案例</a:t>
            </a:r>
          </a:p>
          <a:p>
            <a:pPr lvl="0"/>
            <a:r>
              <a:rPr b="1"/>
              <a:t>产品特点</a:t>
            </a:r>
            <a:r>
              <a:rPr/>
              <a:t>：</a:t>
            </a:r>
          </a:p>
          <a:p>
            <a:pPr lvl="1" indent="-342900" marL="685800">
              <a:buAutoNum type="arabicPeriod"/>
            </a:pPr>
            <a:r>
              <a:rPr/>
              <a:t>GelSight Mini：紧凑型传感器，适用于机器人末端</a:t>
            </a:r>
          </a:p>
          <a:p>
            <a:pPr lvl="1" indent="-342900" marL="685800">
              <a:buAutoNum type="arabicPeriod"/>
            </a:pPr>
            <a:r>
              <a:rPr/>
              <a:t>GelSight Industrial：工业级传感器，用于质量检测</a:t>
            </a:r>
          </a:p>
          <a:p>
            <a:pPr lvl="1" indent="-342900" marL="685800">
              <a:buAutoNum type="arabicPeriod"/>
            </a:pPr>
            <a:r>
              <a:rPr/>
              <a:t>GelSight Mobile：移动式检测设备</a:t>
            </a:r>
          </a:p>
          <a:p>
            <a:pPr lvl="0"/>
            <a:r>
              <a:rPr b="1"/>
              <a:t>应用领域</a:t>
            </a:r>
            <a:r>
              <a:rPr/>
              <a:t>：机器人操作、工业检测、材料分析</a:t>
            </a:r>
          </a:p>
          <a:p>
            <a:pPr lvl="0"/>
            <a:r>
              <a:rPr b="1"/>
              <a:t>市场地位</a:t>
            </a:r>
            <a:r>
              <a:rPr/>
              <a:t>：行业技术先驱，市场份额领先</a:t>
            </a:r>
          </a:p>
          <a:p>
            <a:pPr lvl="0" indent="0" marL="0">
              <a:spcBef>
                <a:spcPts val="3000"/>
              </a:spcBef>
              <a:buNone/>
            </a:pPr>
            <a:r>
              <a:rPr b="1"/>
              <a:t>2.2.2 Pressure Profile Systems（美国）</a:t>
            </a:r>
          </a:p>
          <a:p>
            <a:pPr lvl="0"/>
            <a:r>
              <a:rPr b="1"/>
              <a:t>成立时间</a:t>
            </a:r>
            <a:r>
              <a:rPr/>
              <a:t>：1995年</a:t>
            </a:r>
          </a:p>
          <a:p>
            <a:pPr lvl="0"/>
            <a:r>
              <a:rPr b="1"/>
              <a:t>核心技术</a:t>
            </a:r>
            <a:r>
              <a:rPr/>
              <a:t>：薄膜压力传感阵列技术</a:t>
            </a:r>
          </a:p>
          <a:p>
            <a:pPr lvl="0"/>
            <a:r>
              <a:rPr b="1"/>
              <a:t>技术优势</a:t>
            </a:r>
            <a:r>
              <a:rPr/>
              <a:t>：</a:t>
            </a:r>
          </a:p>
          <a:p>
            <a:pPr lvl="1" indent="-342900" marL="685800">
              <a:buAutoNum type="arabicPeriod"/>
            </a:pPr>
            <a:r>
              <a:rPr/>
              <a:t>高灵敏度压力测量（&lt;1g）</a:t>
            </a:r>
          </a:p>
          <a:p>
            <a:pPr lvl="1" indent="-342900" marL="685800">
              <a:buAutoNum type="arabicPeriod"/>
            </a:pPr>
            <a:r>
              <a:rPr/>
              <a:t>柔性传感器阵列，可定制形状</a:t>
            </a:r>
          </a:p>
          <a:p>
            <a:pPr lvl="1" indent="-342900" marL="685800">
              <a:buAutoNum type="arabicPeriod"/>
            </a:pPr>
            <a:r>
              <a:rPr/>
              <a:t>实时数据处理能力</a:t>
            </a:r>
          </a:p>
          <a:p>
            <a:pPr lvl="0"/>
            <a:r>
              <a:rPr b="1"/>
              <a:t>应用领域</a:t>
            </a:r>
            <a:r>
              <a:rPr/>
              <a:t>：医疗康复、机器人技术、人机交互</a:t>
            </a:r>
          </a:p>
          <a:p>
            <a:pPr lvl="0"/>
            <a:r>
              <a:rPr b="1"/>
              <a:t>市场地位</a:t>
            </a:r>
            <a:r>
              <a:rPr/>
              <a:t>：医疗和工业应用领先供应商</a:t>
            </a:r>
          </a:p>
          <a:p>
            <a:pPr lvl="0" indent="0" marL="0">
              <a:spcBef>
                <a:spcPts val="3000"/>
              </a:spcBef>
              <a:buNone/>
            </a:pPr>
            <a:r>
              <a:rPr b="1"/>
              <a:t>2.2.3 ABB Robotics（瑞士）</a:t>
            </a:r>
          </a:p>
          <a:p>
            <a:pPr lvl="0"/>
            <a:r>
              <a:rPr b="1"/>
              <a:t>触觉应用</a:t>
            </a:r>
            <a:r>
              <a:rPr/>
              <a:t>：精密装配机器人、质量检测系统</a:t>
            </a:r>
          </a:p>
          <a:p>
            <a:pPr lvl="0"/>
            <a:r>
              <a:rPr b="1"/>
              <a:t>技术特点</a:t>
            </a:r>
            <a:r>
              <a:rPr/>
              <a:t>：</a:t>
            </a:r>
          </a:p>
          <a:p>
            <a:pPr lvl="1" indent="-342900" marL="685800">
              <a:buAutoNum type="arabicPeriod"/>
            </a:pPr>
            <a:r>
              <a:rPr/>
              <a:t>与多所大学和研究机构合作研发</a:t>
            </a:r>
          </a:p>
          <a:p>
            <a:pPr lvl="1" indent="-342900" marL="685800">
              <a:buAutoNum type="arabicPeriod"/>
            </a:pPr>
            <a:r>
              <a:rPr/>
              <a:t>集成视觉和触觉的多模态感知系统</a:t>
            </a:r>
          </a:p>
          <a:p>
            <a:pPr lvl="1" indent="-342900" marL="685800">
              <a:buAutoNum type="arabicPeriod"/>
            </a:pPr>
            <a:r>
              <a:rPr/>
              <a:t>工业级可靠性和稳定性</a:t>
            </a:r>
          </a:p>
          <a:p>
            <a:pPr lvl="0"/>
            <a:r>
              <a:rPr b="1"/>
              <a:t>市场优势</a:t>
            </a:r>
            <a:r>
              <a:rPr/>
              <a:t>：全球工业机器人领导厂商，客户基础广泛</a:t>
            </a:r>
          </a:p>
          <a:p>
            <a:pPr lvl="0" indent="0" marL="0">
              <a:spcBef>
                <a:spcPts val="3000"/>
              </a:spcBef>
              <a:buNone/>
            </a:pPr>
            <a:r>
              <a:rPr b="1"/>
              <a:t>2.2.4 Intuitive Surgical（美国）</a:t>
            </a:r>
          </a:p>
          <a:p>
            <a:pPr lvl="0"/>
            <a:r>
              <a:rPr b="1"/>
              <a:t>核心产品</a:t>
            </a:r>
            <a:r>
              <a:rPr/>
              <a:t>：da Vinci手术机器人系统</a:t>
            </a:r>
          </a:p>
          <a:p>
            <a:pPr lvl="0"/>
            <a:r>
              <a:rPr b="1"/>
              <a:t>触觉应用</a:t>
            </a:r>
            <a:r>
              <a:rPr/>
              <a:t>：手术机器人触觉反馈、精细操作控制</a:t>
            </a:r>
          </a:p>
          <a:p>
            <a:pPr lvl="0"/>
            <a:r>
              <a:rPr b="1"/>
              <a:t>技术需求</a:t>
            </a:r>
            <a:r>
              <a:rPr/>
              <a:t>：高精度（亚毫米级）、高可靠性、医疗级认证</a:t>
            </a:r>
          </a:p>
          <a:p>
            <a:pPr lvl="0"/>
            <a:r>
              <a:rPr b="1"/>
              <a:t>市场地位</a:t>
            </a:r>
            <a:r>
              <a:rPr/>
              <a:t>：手术机器人市场绝对领导者，市占率超过80%</a:t>
            </a:r>
          </a:p>
          <a:p>
            <a:pPr lvl="0" indent="0" marL="0">
              <a:spcBef>
                <a:spcPts val="3000"/>
              </a:spcBef>
              <a:buNone/>
            </a:pPr>
            <a:r>
              <a:rPr b="1"/>
              <a:t>2.3 中国本土企业分析</a:t>
            </a:r>
          </a:p>
          <a:p>
            <a:pPr lvl="0" indent="0" marL="0">
              <a:spcBef>
                <a:spcPts val="3000"/>
              </a:spcBef>
              <a:buNone/>
            </a:pPr>
            <a:r>
              <a:rPr b="1"/>
              <a:t>2.3.1 铸化菁特智能科技</a:t>
            </a:r>
          </a:p>
          <a:p>
            <a:pPr lvl="0"/>
            <a:r>
              <a:rPr b="1"/>
              <a:t>核心产品</a:t>
            </a:r>
            <a:r>
              <a:rPr/>
              <a:t>：EASES - Tac3D系列视触传感器</a:t>
            </a:r>
          </a:p>
          <a:p>
            <a:pPr lvl="0"/>
            <a:r>
              <a:rPr b="1"/>
              <a:t>技术特点</a:t>
            </a:r>
            <a:r>
              <a:rPr/>
              <a:t>：</a:t>
            </a:r>
          </a:p>
          <a:p>
            <a:pPr lvl="1" indent="-342900" marL="685800">
              <a:buAutoNum type="arabicPeriod"/>
            </a:pPr>
            <a:r>
              <a:rPr/>
              <a:t>高精度力测量（分辨率0.01N）</a:t>
            </a:r>
          </a:p>
          <a:p>
            <a:pPr lvl="1" indent="-342900" marL="685800">
              <a:buAutoNum type="arabicPeriod"/>
            </a:pPr>
            <a:r>
              <a:rPr/>
              <a:t>多模态输出（力、位移、形状）</a:t>
            </a:r>
          </a:p>
          <a:p>
            <a:pPr lvl="1" indent="-342900" marL="685800">
              <a:buAutoNum type="arabicPeriod"/>
            </a:pPr>
            <a:r>
              <a:rPr/>
              <a:t>模块化设计，易于集成</a:t>
            </a:r>
          </a:p>
          <a:p>
            <a:pPr lvl="0"/>
            <a:r>
              <a:rPr b="1"/>
              <a:t>应用领域</a:t>
            </a:r>
            <a:r>
              <a:rPr/>
              <a:t>：机器人操作、工业检测、科研平台</a:t>
            </a:r>
          </a:p>
          <a:p>
            <a:pPr lvl="0"/>
            <a:r>
              <a:rPr b="1"/>
              <a:t>产品链接</a:t>
            </a:r>
            <a:r>
              <a:rPr/>
              <a:t>：http://www.kingtic.cn/productinfo/2854546.html</a:t>
            </a:r>
          </a:p>
          <a:p>
            <a:pPr lvl="0"/>
            <a:r>
              <a:rPr b="1"/>
              <a:t>市场定位</a:t>
            </a:r>
            <a:r>
              <a:rPr/>
              <a:t>：国内领先的视触传感器商业化产品</a:t>
            </a:r>
          </a:p>
          <a:p>
            <a:pPr lvl="0" indent="0" marL="0">
              <a:spcBef>
                <a:spcPts val="3000"/>
              </a:spcBef>
              <a:buNone/>
            </a:pPr>
            <a:r>
              <a:rPr b="1"/>
              <a:t>2.3.2 星海图科技公司</a:t>
            </a:r>
          </a:p>
          <a:p>
            <a:pPr lvl="0"/>
            <a:r>
              <a:rPr b="1"/>
              <a:t>背景</a:t>
            </a:r>
            <a:r>
              <a:rPr/>
              <a:t>：清华大学许华哲教授团队衍生公司</a:t>
            </a:r>
          </a:p>
          <a:p>
            <a:pPr lvl="0"/>
            <a:r>
              <a:rPr b="1"/>
              <a:t>核心技术</a:t>
            </a:r>
            <a:r>
              <a:rPr/>
              <a:t>：Dtac传感器技术（基于清华大学DeepTouch实验室研究）</a:t>
            </a:r>
          </a:p>
          <a:p>
            <a:pPr lvl="0"/>
            <a:r>
              <a:rPr b="1"/>
              <a:t>发展阶段</a:t>
            </a:r>
            <a:r>
              <a:rPr/>
              <a:t>：初创阶段，技术商业化探索</a:t>
            </a:r>
          </a:p>
          <a:p>
            <a:pPr lvl="0"/>
            <a:r>
              <a:rPr b="1"/>
              <a:t>关联研究</a:t>
            </a:r>
            <a:r>
              <a:rPr/>
              <a:t>：清华大学DeepTouch实验室（https://deeptouch-lab.github.io/publications/）</a:t>
            </a:r>
          </a:p>
          <a:p>
            <a:pPr lvl="0"/>
            <a:r>
              <a:rPr b="1"/>
              <a:t>技术优势</a:t>
            </a:r>
            <a:r>
              <a:rPr/>
              <a:t>：学术研究基础扎实，创新能力强</a:t>
            </a:r>
          </a:p>
          <a:p>
            <a:pPr lvl="0" indent="0" marL="0">
              <a:spcBef>
                <a:spcPts val="3000"/>
              </a:spcBef>
              <a:buNone/>
            </a:pPr>
            <a:r>
              <a:rPr b="1"/>
              <a:t>2.3.3 其他中国相关企业</a:t>
            </a:r>
          </a:p>
          <a:p>
            <a:pPr lvl="0" indent="-342900" marL="342900">
              <a:buAutoNum type="arabicPeriod"/>
            </a:pPr>
            <a:r>
              <a:rPr b="1"/>
              <a:t>海康威视</a:t>
            </a:r>
            <a:r>
              <a:rPr/>
              <a:t>：视觉技术领先企业，具备向触觉延伸的技术基础</a:t>
            </a:r>
          </a:p>
          <a:p>
            <a:pPr lvl="0" indent="-342900" marL="342900">
              <a:buAutoNum type="arabicPeriod"/>
            </a:pPr>
            <a:r>
              <a:rPr b="1"/>
              <a:t>大疆创新</a:t>
            </a:r>
            <a:r>
              <a:rPr/>
              <a:t>：机器人技术积累，传感器集成能力</a:t>
            </a:r>
          </a:p>
          <a:p>
            <a:pPr lvl="0" indent="-342900" marL="342900">
              <a:buAutoNum type="arabicPeriod"/>
            </a:pPr>
            <a:r>
              <a:rPr b="1"/>
              <a:t>华为技术</a:t>
            </a:r>
            <a:r>
              <a:rPr/>
              <a:t>：通信技术优势，物联网应用场景</a:t>
            </a:r>
          </a:p>
          <a:p>
            <a:pPr lvl="0" indent="0" marL="0">
              <a:spcBef>
                <a:spcPts val="3000"/>
              </a:spcBef>
              <a:buNone/>
            </a:pPr>
            <a:r>
              <a:rPr b="1"/>
              <a:t>2.4 产业链分析</a:t>
            </a:r>
          </a:p>
          <a:p>
            <a:pPr lvl="0" indent="0" marL="0">
              <a:spcBef>
                <a:spcPts val="3000"/>
              </a:spcBef>
              <a:buNone/>
            </a:pPr>
            <a:r>
              <a:rPr b="1"/>
              <a:t>2.4.1 上游：原材料与核心组件</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环节</a:t>
                      </a:r>
                    </a:p>
                  </a:txBody>
                  <a:tcPr/>
                </a:tc>
                <a:tc>
                  <a:txBody>
                    <a:bodyPr/>
                    <a:lstStyle/>
                    <a:p>
                      <a:pPr lvl="0" indent="0" marL="0">
                        <a:buNone/>
                      </a:pPr>
                      <a:r>
                        <a:rPr/>
                        <a:t>主要供应商</a:t>
                      </a:r>
                    </a:p>
                  </a:txBody>
                  <a:tcPr/>
                </a:tc>
                <a:tc>
                  <a:txBody>
                    <a:bodyPr/>
                    <a:lstStyle/>
                    <a:p>
                      <a:pPr lvl="0" indent="0" marL="0">
                        <a:buNone/>
                      </a:pPr>
                      <a:r>
                        <a:rPr/>
                        <a:t>技术门槛</a:t>
                      </a:r>
                    </a:p>
                  </a:txBody>
                  <a:tcPr/>
                </a:tc>
                <a:tc>
                  <a:txBody>
                    <a:bodyPr/>
                    <a:lstStyle/>
                    <a:p>
                      <a:pPr lvl="0" indent="0" marL="0">
                        <a:buNone/>
                      </a:pPr>
                      <a:r>
                        <a:rPr/>
                        <a:t>利润水平</a:t>
                      </a:r>
                    </a:p>
                  </a:txBody>
                  <a:tcPr/>
                </a:tc>
              </a:tr>
              <a:tr h="0">
                <a:tc>
                  <a:txBody>
                    <a:bodyPr/>
                    <a:lstStyle/>
                    <a:p>
                      <a:pPr lvl="0" indent="0" marL="0">
                        <a:buNone/>
                      </a:pPr>
                      <a:r>
                        <a:rPr b="1"/>
                        <a:t>弹性体材料</a:t>
                      </a:r>
                    </a:p>
                  </a:txBody>
                </a:tc>
                <a:tc>
                  <a:txBody>
                    <a:bodyPr/>
                    <a:lstStyle/>
                    <a:p>
                      <a:pPr lvl="0" indent="0" marL="0">
                        <a:buNone/>
                      </a:pPr>
                      <a:r>
                        <a:rPr/>
                        <a:t>Dow Corning, Shin-Etsu, Wacker Chemie</a:t>
                      </a:r>
                    </a:p>
                  </a:txBody>
                </a:tc>
                <a:tc>
                  <a:txBody>
                    <a:bodyPr/>
                    <a:lstStyle/>
                    <a:p>
                      <a:pPr lvl="0" indent="0" marL="0">
                        <a:buNone/>
                      </a:pPr>
                      <a:r>
                        <a:rPr/>
                        <a:t>材料科学，配方工艺</a:t>
                      </a:r>
                    </a:p>
                  </a:txBody>
                </a:tc>
                <a:tc>
                  <a:txBody>
                    <a:bodyPr/>
                    <a:lstStyle/>
                    <a:p>
                      <a:pPr lvl="0" indent="0" marL="0">
                        <a:buNone/>
                      </a:pPr>
                      <a:r>
                        <a:rPr/>
                        <a:t>中等（20-30%）</a:t>
                      </a:r>
                    </a:p>
                  </a:txBody>
                </a:tc>
              </a:tr>
              <a:tr h="0">
                <a:tc>
                  <a:txBody>
                    <a:bodyPr/>
                    <a:lstStyle/>
                    <a:p>
                      <a:pPr lvl="0" indent="0" marL="0">
                        <a:buNone/>
                      </a:pPr>
                      <a:r>
                        <a:rPr b="1"/>
                        <a:t>光学组件</a:t>
                      </a:r>
                    </a:p>
                  </a:txBody>
                </a:tc>
                <a:tc>
                  <a:txBody>
                    <a:bodyPr/>
                    <a:lstStyle/>
                    <a:p>
                      <a:pPr lvl="0" indent="0" marL="0">
                        <a:buNone/>
                      </a:pPr>
                      <a:r>
                        <a:rPr/>
                        <a:t>Sony, OmniVision, ams OSRAM</a:t>
                      </a:r>
                    </a:p>
                  </a:txBody>
                </a:tc>
                <a:tc>
                  <a:txBody>
                    <a:bodyPr/>
                    <a:lstStyle/>
                    <a:p>
                      <a:pPr lvl="0" indent="0" marL="0">
                        <a:buNone/>
                      </a:pPr>
                      <a:r>
                        <a:rPr/>
                        <a:t>光学设计，制造工艺</a:t>
                      </a:r>
                    </a:p>
                  </a:txBody>
                </a:tc>
                <a:tc>
                  <a:txBody>
                    <a:bodyPr/>
                    <a:lstStyle/>
                    <a:p>
                      <a:pPr lvl="0" indent="0" marL="0">
                        <a:buNone/>
                      </a:pPr>
                      <a:r>
                        <a:rPr/>
                        <a:t>中高（25-35%）</a:t>
                      </a:r>
                    </a:p>
                  </a:txBody>
                </a:tc>
              </a:tr>
              <a:tr h="0">
                <a:tc>
                  <a:txBody>
                    <a:bodyPr/>
                    <a:lstStyle/>
                    <a:p>
                      <a:pPr lvl="0" indent="0" marL="0">
                        <a:buNone/>
                      </a:pPr>
                      <a:r>
                        <a:rPr b="1"/>
                        <a:t>电子组件</a:t>
                      </a:r>
                    </a:p>
                  </a:txBody>
                </a:tc>
                <a:tc>
                  <a:txBody>
                    <a:bodyPr/>
                    <a:lstStyle/>
                    <a:p>
                      <a:pPr lvl="0" indent="0" marL="0">
                        <a:buNone/>
                      </a:pPr>
                      <a:r>
                        <a:rPr/>
                        <a:t>Texas Instruments, STMicroelectronics, Analog Devices</a:t>
                      </a:r>
                    </a:p>
                  </a:txBody>
                </a:tc>
                <a:tc>
                  <a:txBody>
                    <a:bodyPr/>
                    <a:lstStyle/>
                    <a:p>
                      <a:pPr lvl="0" indent="0" marL="0">
                        <a:buNone/>
                      </a:pPr>
                      <a:r>
                        <a:rPr/>
                        <a:t>芯片设计，信号处理</a:t>
                      </a:r>
                    </a:p>
                  </a:txBody>
                </a:tc>
                <a:tc>
                  <a:txBody>
                    <a:bodyPr/>
                    <a:lstStyle/>
                    <a:p>
                      <a:pPr lvl="0" indent="0" marL="0">
                        <a:buNone/>
                      </a:pPr>
                      <a:r>
                        <a:rPr/>
                        <a:t>高（30-40%）</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2.4.2 中游：制造与集成</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环节</a:t>
                      </a:r>
                    </a:p>
                  </a:txBody>
                  <a:tcPr/>
                </a:tc>
                <a:tc>
                  <a:txBody>
                    <a:bodyPr/>
                    <a:lstStyle/>
                    <a:p>
                      <a:pPr lvl="0" indent="0" marL="0">
                        <a:buNone/>
                      </a:pPr>
                      <a:r>
                        <a:rPr/>
                        <a:t>主要企业</a:t>
                      </a:r>
                    </a:p>
                  </a:txBody>
                  <a:tcPr/>
                </a:tc>
                <a:tc>
                  <a:txBody>
                    <a:bodyPr/>
                    <a:lstStyle/>
                    <a:p>
                      <a:pPr lvl="0" indent="0" marL="0">
                        <a:buNone/>
                      </a:pPr>
                      <a:r>
                        <a:rPr/>
                        <a:t>技术门槛</a:t>
                      </a:r>
                    </a:p>
                  </a:txBody>
                  <a:tcPr/>
                </a:tc>
                <a:tc>
                  <a:txBody>
                    <a:bodyPr/>
                    <a:lstStyle/>
                    <a:p>
                      <a:pPr lvl="0" indent="0" marL="0">
                        <a:buNone/>
                      </a:pPr>
                      <a:r>
                        <a:rPr/>
                        <a:t>利润水平</a:t>
                      </a:r>
                    </a:p>
                  </a:txBody>
                  <a:tcPr/>
                </a:tc>
              </a:tr>
              <a:tr h="0">
                <a:tc>
                  <a:txBody>
                    <a:bodyPr/>
                    <a:lstStyle/>
                    <a:p>
                      <a:pPr lvl="0" indent="0" marL="0">
                        <a:buNone/>
                      </a:pPr>
                      <a:r>
                        <a:rPr b="1"/>
                        <a:t>传感器制造</a:t>
                      </a:r>
                    </a:p>
                  </a:txBody>
                </a:tc>
                <a:tc>
                  <a:txBody>
                    <a:bodyPr/>
                    <a:lstStyle/>
                    <a:p>
                      <a:pPr lvl="0" indent="0" marL="0">
                        <a:buNone/>
                      </a:pPr>
                      <a:r>
                        <a:rPr/>
                        <a:t>GelSight, Pressure Profile Systems</a:t>
                      </a:r>
                    </a:p>
                  </a:txBody>
                </a:tc>
                <a:tc>
                  <a:txBody>
                    <a:bodyPr/>
                    <a:lstStyle/>
                    <a:p>
                      <a:pPr lvl="0" indent="0" marL="0">
                        <a:buNone/>
                      </a:pPr>
                      <a:r>
                        <a:rPr/>
                        <a:t>光学对准，封装工艺</a:t>
                      </a:r>
                    </a:p>
                  </a:txBody>
                </a:tc>
                <a:tc>
                  <a:txBody>
                    <a:bodyPr/>
                    <a:lstStyle/>
                    <a:p>
                      <a:pPr lvl="0" indent="0" marL="0">
                        <a:buNone/>
                      </a:pPr>
                      <a:r>
                        <a:rPr/>
                        <a:t>中等（25-35%）</a:t>
                      </a:r>
                    </a:p>
                  </a:txBody>
                </a:tc>
              </a:tr>
              <a:tr h="0">
                <a:tc>
                  <a:txBody>
                    <a:bodyPr/>
                    <a:lstStyle/>
                    <a:p>
                      <a:pPr lvl="0" indent="0" marL="0">
                        <a:buNone/>
                      </a:pPr>
                      <a:r>
                        <a:rPr b="1"/>
                        <a:t>系统集成</a:t>
                      </a:r>
                    </a:p>
                  </a:txBody>
                </a:tc>
                <a:tc>
                  <a:txBody>
                    <a:bodyPr/>
                    <a:lstStyle/>
                    <a:p>
                      <a:pPr lvl="0" indent="0" marL="0">
                        <a:buNone/>
                      </a:pPr>
                      <a:r>
                        <a:rPr/>
                        <a:t>ABB, KUKA, Fanuc</a:t>
                      </a:r>
                    </a:p>
                  </a:txBody>
                </a:tc>
                <a:tc>
                  <a:txBody>
                    <a:bodyPr/>
                    <a:lstStyle/>
                    <a:p>
                      <a:pPr lvl="0" indent="0" marL="0">
                        <a:buNone/>
                      </a:pPr>
                      <a:r>
                        <a:rPr/>
                        <a:t>应用算法，系统集成</a:t>
                      </a:r>
                    </a:p>
                  </a:txBody>
                </a:tc>
                <a:tc>
                  <a:txBody>
                    <a:bodyPr/>
                    <a:lstStyle/>
                    <a:p>
                      <a:pPr lvl="0" indent="0" marL="0">
                        <a:buNone/>
                      </a:pPr>
                      <a:r>
                        <a:rPr/>
                        <a:t>高（30-40%）</a:t>
                      </a:r>
                    </a:p>
                  </a:txBody>
                </a:tc>
              </a:tr>
              <a:tr h="0">
                <a:tc>
                  <a:txBody>
                    <a:bodyPr/>
                    <a:lstStyle/>
                    <a:p>
                      <a:pPr lvl="0" indent="0" marL="0">
                        <a:buNone/>
                      </a:pPr>
                      <a:r>
                        <a:rPr b="1"/>
                        <a:t>校准测试</a:t>
                      </a:r>
                    </a:p>
                  </a:txBody>
                </a:tc>
                <a:tc>
                  <a:txBody>
                    <a:bodyPr/>
                    <a:lstStyle/>
                    <a:p>
                      <a:pPr lvl="0" indent="0" marL="0">
                        <a:buNone/>
                      </a:pPr>
                      <a:r>
                        <a:rPr/>
                        <a:t>专业测试服务商</a:t>
                      </a:r>
                    </a:p>
                  </a:txBody>
                </a:tc>
                <a:tc>
                  <a:txBody>
                    <a:bodyPr/>
                    <a:lstStyle/>
                    <a:p>
                      <a:pPr lvl="0" indent="0" marL="0">
                        <a:buNone/>
                      </a:pPr>
                      <a:r>
                        <a:rPr/>
                        <a:t>校准算法，测试标准</a:t>
                      </a:r>
                    </a:p>
                  </a:txBody>
                </a:tc>
                <a:tc>
                  <a:txBody>
                    <a:bodyPr/>
                    <a:lstStyle/>
                    <a:p>
                      <a:pPr lvl="0" indent="0" marL="0">
                        <a:buNone/>
                      </a:pPr>
                      <a:r>
                        <a:rPr/>
                        <a:t>中等（20-30%）</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2.4.3 下游：应用与服务</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环节</a:t>
                      </a:r>
                    </a:p>
                  </a:txBody>
                  <a:tcPr/>
                </a:tc>
                <a:tc>
                  <a:txBody>
                    <a:bodyPr/>
                    <a:lstStyle/>
                    <a:p>
                      <a:pPr lvl="0" indent="0" marL="0">
                        <a:buNone/>
                      </a:pPr>
                      <a:r>
                        <a:rPr/>
                        <a:t>主要企业</a:t>
                      </a:r>
                    </a:p>
                  </a:txBody>
                  <a:tcPr/>
                </a:tc>
                <a:tc>
                  <a:txBody>
                    <a:bodyPr/>
                    <a:lstStyle/>
                    <a:p>
                      <a:pPr lvl="0" indent="0" marL="0">
                        <a:buNone/>
                      </a:pPr>
                      <a:r>
                        <a:rPr/>
                        <a:t>技术门槛</a:t>
                      </a:r>
                    </a:p>
                  </a:txBody>
                  <a:tcPr/>
                </a:tc>
                <a:tc>
                  <a:txBody>
                    <a:bodyPr/>
                    <a:lstStyle/>
                    <a:p>
                      <a:pPr lvl="0" indent="0" marL="0">
                        <a:buNone/>
                      </a:pPr>
                      <a:r>
                        <a:rPr/>
                        <a:t>利润水平</a:t>
                      </a:r>
                    </a:p>
                  </a:txBody>
                  <a:tcPr/>
                </a:tc>
              </a:tr>
              <a:tr h="0">
                <a:tc>
                  <a:txBody>
                    <a:bodyPr/>
                    <a:lstStyle/>
                    <a:p>
                      <a:pPr lvl="0" indent="0" marL="0">
                        <a:buNone/>
                      </a:pPr>
                      <a:r>
                        <a:rPr b="1"/>
                        <a:t>机器人应用</a:t>
                      </a:r>
                    </a:p>
                  </a:txBody>
                </a:tc>
                <a:tc>
                  <a:txBody>
                    <a:bodyPr/>
                    <a:lstStyle/>
                    <a:p>
                      <a:pPr lvl="0" indent="0" marL="0">
                        <a:buNone/>
                      </a:pPr>
                      <a:r>
                        <a:rPr/>
                        <a:t>Boston Dynamics, Universal Robots</a:t>
                      </a:r>
                    </a:p>
                  </a:txBody>
                </a:tc>
                <a:tc>
                  <a:txBody>
                    <a:bodyPr/>
                    <a:lstStyle/>
                    <a:p>
                      <a:pPr lvl="0" indent="0" marL="0">
                        <a:buNone/>
                      </a:pPr>
                      <a:r>
                        <a:rPr/>
                        <a:t>机器人控制，应用开发</a:t>
                      </a:r>
                    </a:p>
                  </a:txBody>
                </a:tc>
                <a:tc>
                  <a:txBody>
                    <a:bodyPr/>
                    <a:lstStyle/>
                    <a:p>
                      <a:pPr lvl="0" indent="0" marL="0">
                        <a:buNone/>
                      </a:pPr>
                      <a:r>
                        <a:rPr/>
                        <a:t>高（35-45%）</a:t>
                      </a:r>
                    </a:p>
                  </a:txBody>
                </a:tc>
              </a:tr>
              <a:tr h="0">
                <a:tc>
                  <a:txBody>
                    <a:bodyPr/>
                    <a:lstStyle/>
                    <a:p>
                      <a:pPr lvl="0" indent="0" marL="0">
                        <a:buNone/>
                      </a:pPr>
                      <a:r>
                        <a:rPr b="1"/>
                        <a:t>医疗应用</a:t>
                      </a:r>
                    </a:p>
                  </a:txBody>
                </a:tc>
                <a:tc>
                  <a:txBody>
                    <a:bodyPr/>
                    <a:lstStyle/>
                    <a:p>
                      <a:pPr lvl="0" indent="0" marL="0">
                        <a:buNone/>
                      </a:pPr>
                      <a:r>
                        <a:rPr/>
                        <a:t>Intuitive Surgical, Medtronic</a:t>
                      </a:r>
                    </a:p>
                  </a:txBody>
                </a:tc>
                <a:tc>
                  <a:txBody>
                    <a:bodyPr/>
                    <a:lstStyle/>
                    <a:p>
                      <a:pPr lvl="0" indent="0" marL="0">
                        <a:buNone/>
                      </a:pPr>
                      <a:r>
                        <a:rPr/>
                        <a:t>医疗认证，临床验证</a:t>
                      </a:r>
                    </a:p>
                  </a:txBody>
                </a:tc>
                <a:tc>
                  <a:txBody>
                    <a:bodyPr/>
                    <a:lstStyle/>
                    <a:p>
                      <a:pPr lvl="0" indent="0" marL="0">
                        <a:buNone/>
                      </a:pPr>
                      <a:r>
                        <a:rPr/>
                        <a:t>很高（40-50%）</a:t>
                      </a:r>
                    </a:p>
                  </a:txBody>
                </a:tc>
              </a:tr>
              <a:tr h="0">
                <a:tc>
                  <a:txBody>
                    <a:bodyPr/>
                    <a:lstStyle/>
                    <a:p>
                      <a:pPr lvl="0" indent="0" marL="0">
                        <a:buNone/>
                      </a:pPr>
                      <a:r>
                        <a:rPr b="1"/>
                        <a:t>消费电子应用</a:t>
                      </a:r>
                    </a:p>
                  </a:txBody>
                </a:tc>
                <a:tc>
                  <a:txBody>
                    <a:bodyPr/>
                    <a:lstStyle/>
                    <a:p>
                      <a:pPr lvl="0" indent="0" marL="0">
                        <a:buNone/>
                      </a:pPr>
                      <a:r>
                        <a:rPr/>
                        <a:t>Apple, Meta, Sony</a:t>
                      </a:r>
                    </a:p>
                  </a:txBody>
                </a:tc>
                <a:tc>
                  <a:txBody>
                    <a:bodyPr/>
                    <a:lstStyle/>
                    <a:p>
                      <a:pPr lvl="0" indent="0" marL="0">
                        <a:buNone/>
                      </a:pPr>
                      <a:r>
                        <a:rPr/>
                        <a:t>用户体验，产品设计</a:t>
                      </a:r>
                    </a:p>
                  </a:txBody>
                </a:tc>
                <a:tc>
                  <a:txBody>
                    <a:bodyPr/>
                    <a:lstStyle/>
                    <a:p>
                      <a:pPr lvl="0" indent="0" marL="0">
                        <a:buNone/>
                      </a:pPr>
                      <a:r>
                        <a:rPr/>
                        <a:t>高（30-40%）</a:t>
                      </a:r>
                    </a:p>
                  </a:txBody>
                </a:tc>
              </a:tr>
            </a:tbl>
          </a:graphicData>
        </a:graphic>
      </p:graphicFrame>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第三章：技术发展现状与趋势</a:t>
            </a:r>
          </a:p>
          <a:p>
            <a:pPr lvl="0" indent="0" marL="0">
              <a:spcBef>
                <a:spcPts val="3000"/>
              </a:spcBef>
              <a:buNone/>
            </a:pPr>
            <a:r>
              <a:rPr b="1"/>
              <a:t>3.1 核心技术架构</a:t>
            </a:r>
          </a:p>
          <a:p>
            <a:pPr lvl="0" indent="0" marL="0">
              <a:spcBef>
                <a:spcPts val="3000"/>
              </a:spcBef>
              <a:buNone/>
            </a:pPr>
            <a:r>
              <a:rPr b="1"/>
              <a:t>3.1.1 硬件架构</a:t>
            </a:r>
          </a:p>
          <a:p>
            <a:pPr lvl="0" indent="-342900" marL="342900">
              <a:buAutoNum type="arabicPeriod"/>
            </a:pPr>
            <a:r>
              <a:rPr b="1"/>
              <a:t>光学系统</a:t>
            </a:r>
            <a:r>
              <a:rPr/>
              <a:t>：相机模块、LED照明、透镜组</a:t>
            </a:r>
          </a:p>
          <a:p>
            <a:pPr lvl="0" indent="-342900" marL="342900">
              <a:buAutoNum type="arabicPeriod"/>
            </a:pPr>
            <a:r>
              <a:rPr b="1"/>
              <a:t>弹性体结构</a:t>
            </a:r>
            <a:r>
              <a:rPr/>
              <a:t>：透明/半透明硅胶多层结构</a:t>
            </a:r>
          </a:p>
          <a:p>
            <a:pPr lvl="0" indent="-342900" marL="342900">
              <a:buAutoNum type="arabicPeriod"/>
            </a:pPr>
            <a:r>
              <a:rPr b="1"/>
              <a:t>标记层</a:t>
            </a:r>
            <a:r>
              <a:rPr/>
              <a:t>：彩色斑点或图案，用于位移跟踪</a:t>
            </a:r>
          </a:p>
          <a:p>
            <a:pPr lvl="0" indent="-342900" marL="342900">
              <a:buAutoNum type="arabicPeriod"/>
            </a:pPr>
            <a:r>
              <a:rPr b="1"/>
              <a:t>电子系统</a:t>
            </a:r>
            <a:r>
              <a:rPr/>
              <a:t>：图像处理器、通信接口、电源管理</a:t>
            </a:r>
          </a:p>
          <a:p>
            <a:pPr lvl="0" indent="0" marL="0">
              <a:spcBef>
                <a:spcPts val="3000"/>
              </a:spcBef>
              <a:buNone/>
            </a:pPr>
            <a:r>
              <a:rPr b="1"/>
              <a:t>3.1.2 软件算法</a:t>
            </a:r>
          </a:p>
          <a:p>
            <a:pPr lvl="0" indent="-342900" marL="342900">
              <a:buAutoNum type="arabicPeriod"/>
            </a:pPr>
            <a:r>
              <a:rPr b="1"/>
              <a:t>标记检测算法</a:t>
            </a:r>
            <a:r>
              <a:rPr/>
              <a:t>：斑点识别、位置跟踪</a:t>
            </a:r>
          </a:p>
          <a:p>
            <a:pPr lvl="0" indent="-342900" marL="342900">
              <a:buAutoNum type="arabicPeriod"/>
            </a:pPr>
            <a:r>
              <a:rPr b="1"/>
              <a:t>位移场计算</a:t>
            </a:r>
            <a:r>
              <a:rPr/>
              <a:t>：亚像素精度位移估计</a:t>
            </a:r>
          </a:p>
          <a:p>
            <a:pPr lvl="0" indent="-342900" marL="342900">
              <a:buAutoNum type="arabicPeriod"/>
            </a:pPr>
            <a:r>
              <a:rPr b="1"/>
              <a:t>力估计算法</a:t>
            </a:r>
            <a:r>
              <a:rPr/>
              <a:t>：</a:t>
            </a:r>
          </a:p>
          <a:p>
            <a:pPr lvl="1"/>
            <a:r>
              <a:rPr/>
              <a:t>Hertz接触理论：点接触弹性变形</a:t>
            </a:r>
          </a:p>
          <a:p>
            <a:pPr lvl="1"/>
            <a:r>
              <a:rPr/>
              <a:t>Boussinesq解：弹性半空间表面位移</a:t>
            </a:r>
          </a:p>
          <a:p>
            <a:pPr lvl="1"/>
            <a:r>
              <a:rPr/>
              <a:t>有限元逆问题：数值方法求解力分布</a:t>
            </a:r>
          </a:p>
          <a:p>
            <a:pPr lvl="0" indent="-342900" marL="342900">
              <a:buAutoNum type="arabicPeriod"/>
            </a:pPr>
            <a:r>
              <a:rPr b="1"/>
              <a:t>校准算法</a:t>
            </a:r>
            <a:r>
              <a:rPr/>
              <a:t>：相机标定、深度-灰度映射</a:t>
            </a:r>
          </a:p>
          <a:p>
            <a:pPr lvl="0" indent="0" marL="0">
              <a:spcBef>
                <a:spcPts val="3000"/>
              </a:spcBef>
              <a:buNone/>
            </a:pPr>
            <a:r>
              <a:rPr b="1"/>
              <a:t>3.2 关键技术指标</a:t>
            </a:r>
          </a:p>
          <a:p>
            <a:pPr lvl="0" indent="0" marL="0">
              <a:spcBef>
                <a:spcPts val="3000"/>
              </a:spcBef>
              <a:buNone/>
            </a:pPr>
            <a:r>
              <a:rPr b="1"/>
              <a:t>3.2.1 性能指标</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指标</a:t>
                      </a:r>
                    </a:p>
                  </a:txBody>
                  <a:tcPr/>
                </a:tc>
                <a:tc>
                  <a:txBody>
                    <a:bodyPr/>
                    <a:lstStyle/>
                    <a:p>
                      <a:pPr lvl="0" indent="0" marL="0">
                        <a:buNone/>
                      </a:pPr>
                      <a:r>
                        <a:rPr/>
                        <a:t>典型值</a:t>
                      </a:r>
                    </a:p>
                  </a:txBody>
                  <a:tcPr/>
                </a:tc>
                <a:tc>
                  <a:txBody>
                    <a:bodyPr/>
                    <a:lstStyle/>
                    <a:p>
                      <a:pPr lvl="0" indent="0" marL="0">
                        <a:buNone/>
                      </a:pPr>
                      <a:r>
                        <a:rPr/>
                        <a:t>行业领先水平</a:t>
                      </a:r>
                    </a:p>
                  </a:txBody>
                  <a:tcPr/>
                </a:tc>
                <a:tc>
                  <a:txBody>
                    <a:bodyPr/>
                    <a:lstStyle/>
                    <a:p>
                      <a:pPr lvl="0" indent="0" marL="0">
                        <a:buNone/>
                      </a:pPr>
                      <a:r>
                        <a:rPr/>
                        <a:t>技术挑战</a:t>
                      </a:r>
                    </a:p>
                  </a:txBody>
                  <a:tcPr/>
                </a:tc>
              </a:tr>
              <a:tr h="0">
                <a:tc>
                  <a:txBody>
                    <a:bodyPr/>
                    <a:lstStyle/>
                    <a:p>
                      <a:pPr lvl="0" indent="0" marL="0">
                        <a:buNone/>
                      </a:pPr>
                      <a:r>
                        <a:rPr b="1"/>
                        <a:t>空间分辨率</a:t>
                      </a:r>
                    </a:p>
                  </a:txBody>
                </a:tc>
                <a:tc>
                  <a:txBody>
                    <a:bodyPr/>
                    <a:lstStyle/>
                    <a:p>
                      <a:pPr lvl="0" indent="0" marL="0">
                        <a:buNone/>
                      </a:pPr>
                      <a:r>
                        <a:rPr/>
                        <a:t>0.5-1mm</a:t>
                      </a:r>
                    </a:p>
                  </a:txBody>
                </a:tc>
                <a:tc>
                  <a:txBody>
                    <a:bodyPr/>
                    <a:lstStyle/>
                    <a:p>
                      <a:pPr lvl="0" indent="0" marL="0">
                        <a:buNone/>
                      </a:pPr>
                      <a:r>
                        <a:rPr/>
                        <a:t>0.1mm</a:t>
                      </a:r>
                    </a:p>
                  </a:txBody>
                </a:tc>
                <a:tc>
                  <a:txBody>
                    <a:bodyPr/>
                    <a:lstStyle/>
                    <a:p>
                      <a:pPr lvl="0" indent="0" marL="0">
                        <a:buNone/>
                      </a:pPr>
                      <a:r>
                        <a:rPr/>
                        <a:t>光学系统限制</a:t>
                      </a:r>
                    </a:p>
                  </a:txBody>
                </a:tc>
              </a:tr>
              <a:tr h="0">
                <a:tc>
                  <a:txBody>
                    <a:bodyPr/>
                    <a:lstStyle/>
                    <a:p>
                      <a:pPr lvl="0" indent="0" marL="0">
                        <a:buNone/>
                      </a:pPr>
                      <a:r>
                        <a:rPr b="1"/>
                        <a:t>力测量范围</a:t>
                      </a:r>
                    </a:p>
                  </a:txBody>
                </a:tc>
                <a:tc>
                  <a:txBody>
                    <a:bodyPr/>
                    <a:lstStyle/>
                    <a:p>
                      <a:pPr lvl="0" indent="0" marL="0">
                        <a:buNone/>
                      </a:pPr>
                      <a:r>
                        <a:rPr/>
                        <a:t>0.1-100N</a:t>
                      </a:r>
                    </a:p>
                  </a:txBody>
                </a:tc>
                <a:tc>
                  <a:txBody>
                    <a:bodyPr/>
                    <a:lstStyle/>
                    <a:p>
                      <a:pPr lvl="0" indent="0" marL="0">
                        <a:buNone/>
                      </a:pPr>
                      <a:r>
                        <a:rPr/>
                        <a:t>0.01-200N</a:t>
                      </a:r>
                    </a:p>
                  </a:txBody>
                </a:tc>
                <a:tc>
                  <a:txBody>
                    <a:bodyPr/>
                    <a:lstStyle/>
                    <a:p>
                      <a:pPr lvl="0" indent="0" marL="0">
                        <a:buNone/>
                      </a:pPr>
                      <a:r>
                        <a:rPr/>
                        <a:t>线性度和量程平衡</a:t>
                      </a:r>
                    </a:p>
                  </a:txBody>
                </a:tc>
              </a:tr>
              <a:tr h="0">
                <a:tc>
                  <a:txBody>
                    <a:bodyPr/>
                    <a:lstStyle/>
                    <a:p>
                      <a:pPr lvl="0" indent="0" marL="0">
                        <a:buNone/>
                      </a:pPr>
                      <a:r>
                        <a:rPr b="1"/>
                        <a:t>力测量精度</a:t>
                      </a:r>
                    </a:p>
                  </a:txBody>
                </a:tc>
                <a:tc>
                  <a:txBody>
                    <a:bodyPr/>
                    <a:lstStyle/>
                    <a:p>
                      <a:pPr lvl="0" indent="0" marL="0">
                        <a:buNone/>
                      </a:pPr>
                      <a:r>
                        <a:rPr/>
                        <a:t>5-10%</a:t>
                      </a:r>
                    </a:p>
                  </a:txBody>
                </a:tc>
                <a:tc>
                  <a:txBody>
                    <a:bodyPr/>
                    <a:lstStyle/>
                    <a:p>
                      <a:pPr lvl="0" indent="0" marL="0">
                        <a:buNone/>
                      </a:pPr>
                      <a:r>
                        <a:rPr/>
                        <a:t>1-2%</a:t>
                      </a:r>
                    </a:p>
                  </a:txBody>
                </a:tc>
                <a:tc>
                  <a:txBody>
                    <a:bodyPr/>
                    <a:lstStyle/>
                    <a:p>
                      <a:pPr lvl="0" indent="0" marL="0">
                        <a:buNone/>
                      </a:pPr>
                      <a:r>
                        <a:rPr/>
                        <a:t>算法和校准精度</a:t>
                      </a:r>
                    </a:p>
                  </a:txBody>
                </a:tc>
              </a:tr>
              <a:tr h="0">
                <a:tc>
                  <a:txBody>
                    <a:bodyPr/>
                    <a:lstStyle/>
                    <a:p>
                      <a:pPr lvl="0" indent="0" marL="0">
                        <a:buNone/>
                      </a:pPr>
                      <a:r>
                        <a:rPr b="1"/>
                        <a:t>响应时间</a:t>
                      </a:r>
                    </a:p>
                  </a:txBody>
                </a:tc>
                <a:tc>
                  <a:txBody>
                    <a:bodyPr/>
                    <a:lstStyle/>
                    <a:p>
                      <a:pPr lvl="0" indent="0" marL="0">
                        <a:buNone/>
                      </a:pPr>
                      <a:r>
                        <a:rPr/>
                        <a:t>30-100ms</a:t>
                      </a:r>
                    </a:p>
                  </a:txBody>
                </a:tc>
                <a:tc>
                  <a:txBody>
                    <a:bodyPr/>
                    <a:lstStyle/>
                    <a:p>
                      <a:pPr lvl="0" indent="0" marL="0">
                        <a:buNone/>
                      </a:pPr>
                      <a:r>
                        <a:rPr/>
                        <a:t>&lt;10ms</a:t>
                      </a:r>
                    </a:p>
                  </a:txBody>
                </a:tc>
                <a:tc>
                  <a:txBody>
                    <a:bodyPr/>
                    <a:lstStyle/>
                    <a:p>
                      <a:pPr lvl="0" indent="0" marL="0">
                        <a:buNone/>
                      </a:pPr>
                      <a:r>
                        <a:rPr/>
                        <a:t>计算复杂度</a:t>
                      </a:r>
                    </a:p>
                  </a:txBody>
                </a:tc>
              </a:tr>
              <a:tr h="0">
                <a:tc>
                  <a:txBody>
                    <a:bodyPr/>
                    <a:lstStyle/>
                    <a:p>
                      <a:pPr lvl="0" indent="0" marL="0">
                        <a:buNone/>
                      </a:pPr>
                      <a:r>
                        <a:rPr b="1"/>
                        <a:t>工作温度范围</a:t>
                      </a:r>
                    </a:p>
                  </a:txBody>
                </a:tc>
                <a:tc>
                  <a:txBody>
                    <a:bodyPr/>
                    <a:lstStyle/>
                    <a:p>
                      <a:pPr lvl="0" indent="0" marL="0">
                        <a:buNone/>
                      </a:pPr>
                      <a:r>
                        <a:rPr/>
                        <a:t>0-40°C</a:t>
                      </a:r>
                    </a:p>
                  </a:txBody>
                </a:tc>
                <a:tc>
                  <a:txBody>
                    <a:bodyPr/>
                    <a:lstStyle/>
                    <a:p>
                      <a:pPr lvl="0" indent="0" marL="0">
                        <a:buNone/>
                      </a:pPr>
                      <a:r>
                        <a:rPr/>
                        <a:t>-20-60°C</a:t>
                      </a:r>
                    </a:p>
                  </a:txBody>
                </a:tc>
                <a:tc>
                  <a:txBody>
                    <a:bodyPr/>
                    <a:lstStyle/>
                    <a:p>
                      <a:pPr lvl="0" indent="0" marL="0">
                        <a:buNone/>
                      </a:pPr>
                      <a:r>
                        <a:rPr/>
                        <a:t>材料热稳定性</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3.2.2 可靠性指标</a:t>
            </a:r>
          </a:p>
          <a:p>
            <a:pPr lvl="0" indent="-342900" marL="342900">
              <a:buAutoNum type="arabicPeriod"/>
            </a:pPr>
            <a:r>
              <a:rPr b="1"/>
              <a:t>寿命</a:t>
            </a:r>
            <a:r>
              <a:rPr/>
              <a:t>：典型1-3年，目标5年以上</a:t>
            </a:r>
          </a:p>
          <a:p>
            <a:pPr lvl="0" indent="-342900" marL="342900">
              <a:buAutoNum type="arabicPeriod"/>
            </a:pPr>
            <a:r>
              <a:rPr b="1"/>
              <a:t>重复精度</a:t>
            </a:r>
            <a:r>
              <a:rPr/>
              <a:t>：±2-5%</a:t>
            </a:r>
          </a:p>
          <a:p>
            <a:pPr lvl="0" indent="-342900" marL="342900">
              <a:buAutoNum type="arabicPeriod"/>
            </a:pPr>
            <a:r>
              <a:rPr b="1"/>
              <a:t>环境适应性</a:t>
            </a:r>
            <a:r>
              <a:rPr/>
              <a:t>：湿度、振动、灰尘影响</a:t>
            </a:r>
          </a:p>
          <a:p>
            <a:pPr lvl="0" indent="-342900" marL="342900">
              <a:buAutoNum type="arabicPeriod"/>
            </a:pPr>
            <a:r>
              <a:rPr b="1"/>
              <a:t>维护周期</a:t>
            </a:r>
            <a:r>
              <a:rPr/>
              <a:t>：校准周期3-6个月</a:t>
            </a:r>
          </a:p>
          <a:p>
            <a:pPr lvl="0" indent="0" marL="0">
              <a:spcBef>
                <a:spcPts val="3000"/>
              </a:spcBef>
              <a:buNone/>
            </a:pPr>
            <a:r>
              <a:rPr b="1"/>
              <a:t>3.3 技术发展趋势</a:t>
            </a:r>
          </a:p>
          <a:p>
            <a:pPr lvl="0" indent="0" marL="0">
              <a:spcBef>
                <a:spcPts val="3000"/>
              </a:spcBef>
              <a:buNone/>
            </a:pPr>
            <a:r>
              <a:rPr b="1"/>
              <a:t>3.3.1 算法发展趋势</a:t>
            </a:r>
          </a:p>
          <a:p>
            <a:pPr lvl="0" indent="-342900" marL="342900">
              <a:buAutoNum type="arabicPeriod"/>
            </a:pPr>
            <a:r>
              <a:rPr b="1"/>
              <a:t>深度学习应用</a:t>
            </a:r>
            <a:r>
              <a:rPr/>
              <a:t>：神经网络替代传统力估计算法</a:t>
            </a:r>
          </a:p>
          <a:p>
            <a:pPr lvl="0" indent="-342900" marL="342900">
              <a:buAutoNum type="arabicPeriod"/>
            </a:pPr>
            <a:r>
              <a:rPr b="1"/>
              <a:t>实时性优化</a:t>
            </a:r>
            <a:r>
              <a:rPr/>
              <a:t>：算法加速，满足机器人控制需求</a:t>
            </a:r>
          </a:p>
          <a:p>
            <a:pPr lvl="0" indent="-342900" marL="342900">
              <a:buAutoNum type="arabicPeriod"/>
            </a:pPr>
            <a:r>
              <a:rPr b="1"/>
              <a:t>鲁棒性提升</a:t>
            </a:r>
            <a:r>
              <a:rPr/>
              <a:t>：抗噪声、抗光照变化能力增强</a:t>
            </a:r>
          </a:p>
          <a:p>
            <a:pPr lvl="0" indent="-342900" marL="342900">
              <a:buAutoNum type="arabicPeriod"/>
            </a:pPr>
            <a:r>
              <a:rPr b="1"/>
              <a:t>多传感器融合</a:t>
            </a:r>
            <a:r>
              <a:rPr/>
              <a:t>：视觉与触觉信息互补</a:t>
            </a:r>
          </a:p>
          <a:p>
            <a:pPr lvl="0" indent="0" marL="0">
              <a:spcBef>
                <a:spcPts val="3000"/>
              </a:spcBef>
              <a:buNone/>
            </a:pPr>
            <a:r>
              <a:rPr b="1"/>
              <a:t>3.3.2 硬件发展趋势</a:t>
            </a:r>
          </a:p>
          <a:p>
            <a:pPr lvl="0" indent="-342900" marL="342900">
              <a:buAutoNum type="arabicPeriod"/>
            </a:pPr>
            <a:r>
              <a:rPr b="1"/>
              <a:t>小型化</a:t>
            </a:r>
            <a:r>
              <a:rPr/>
              <a:t>：更紧凑的光学系统设计</a:t>
            </a:r>
          </a:p>
          <a:p>
            <a:pPr lvl="0" indent="-342900" marL="342900">
              <a:buAutoNum type="arabicPeriod"/>
            </a:pPr>
            <a:r>
              <a:rPr b="1"/>
              <a:t>低成本化</a:t>
            </a:r>
            <a:r>
              <a:rPr/>
              <a:t>：消费级组件替代工业级组件</a:t>
            </a:r>
          </a:p>
          <a:p>
            <a:pPr lvl="0" indent="-342900" marL="342900">
              <a:buAutoNum type="arabicPeriod"/>
            </a:pPr>
            <a:r>
              <a:rPr b="1"/>
              <a:t>柔性化</a:t>
            </a:r>
            <a:r>
              <a:rPr/>
              <a:t>：可弯曲传感器适应复杂曲面</a:t>
            </a:r>
          </a:p>
          <a:p>
            <a:pPr lvl="0" indent="-342900" marL="342900">
              <a:buAutoNum type="arabicPeriod"/>
            </a:pPr>
            <a:r>
              <a:rPr b="1"/>
              <a:t>无线化</a:t>
            </a:r>
            <a:r>
              <a:rPr/>
              <a:t>：无线传输减少布线约束</a:t>
            </a:r>
          </a:p>
          <a:p>
            <a:pPr lvl="0" indent="0" marL="0">
              <a:spcBef>
                <a:spcPts val="3000"/>
              </a:spcBef>
              <a:buNone/>
            </a:pPr>
            <a:r>
              <a:rPr b="1"/>
              <a:t>3.4 学术研究热点</a:t>
            </a:r>
          </a:p>
          <a:p>
            <a:pPr lvl="0" indent="0" marL="0">
              <a:spcBef>
                <a:spcPts val="3000"/>
              </a:spcBef>
              <a:buNone/>
            </a:pPr>
            <a:r>
              <a:rPr b="1"/>
              <a:t>3.4.1 国际研究团队</a:t>
            </a:r>
          </a:p>
          <a:p>
            <a:pPr lvl="0" indent="-342900" marL="342900">
              <a:buAutoNum type="arabicPeriod"/>
            </a:pPr>
            <a:r>
              <a:rPr b="1"/>
              <a:t>麻省理工学院（MIT）</a:t>
            </a:r>
            <a:r>
              <a:rPr/>
              <a:t>：Edward Adelson团队，GelSight技术起源</a:t>
            </a:r>
          </a:p>
          <a:p>
            <a:pPr lvl="0" indent="-342900" marL="342900">
              <a:buAutoNum type="arabicPeriod"/>
            </a:pPr>
            <a:r>
              <a:rPr b="1"/>
              <a:t>卡内基梅隆大学（CMU）</a:t>
            </a:r>
            <a:r>
              <a:rPr/>
              <a:t>：机器人触觉感知研究</a:t>
            </a:r>
          </a:p>
          <a:p>
            <a:pPr lvl="0" indent="-342900" marL="342900">
              <a:buAutoNum type="arabicPeriod"/>
            </a:pPr>
            <a:r>
              <a:rPr b="1"/>
              <a:t>斯坦福大学</a:t>
            </a:r>
            <a:r>
              <a:rPr/>
              <a:t>：柔性电子与触觉传感器研究</a:t>
            </a:r>
          </a:p>
          <a:p>
            <a:pPr lvl="0" indent="0" marL="0">
              <a:spcBef>
                <a:spcPts val="3000"/>
              </a:spcBef>
              <a:buNone/>
            </a:pPr>
            <a:r>
              <a:rPr b="1"/>
              <a:t>3.4.2 中国研究团队</a:t>
            </a:r>
          </a:p>
          <a:p>
            <a:pPr lvl="0" indent="-342900" marL="342900">
              <a:buAutoNum type="arabicPeriod"/>
            </a:pPr>
            <a:r>
              <a:rPr b="1"/>
              <a:t>清华大学</a:t>
            </a:r>
            <a:r>
              <a:rPr/>
              <a:t>：许华哲教授团队（DeepTouch实验室）</a:t>
            </a:r>
          </a:p>
          <a:p>
            <a:pPr lvl="0" indent="-342900" marL="342900">
              <a:buAutoNum type="arabicPeriod"/>
            </a:pPr>
            <a:r>
              <a:rPr b="1"/>
              <a:t>北京邮电大学</a:t>
            </a:r>
            <a:r>
              <a:rPr/>
              <a:t>：方斌教授团队</a:t>
            </a:r>
          </a:p>
          <a:p>
            <a:pPr lvl="0" indent="-342900" marL="342900">
              <a:buAutoNum type="arabicPeriod"/>
            </a:pPr>
            <a:r>
              <a:rPr b="1"/>
              <a:t>上海交通大学</a:t>
            </a:r>
            <a:r>
              <a:rPr/>
              <a:t>：谷国迎教授团队</a:t>
            </a:r>
          </a:p>
          <a:p>
            <a:pPr lvl="0" indent="-342900" marL="342900">
              <a:buAutoNum type="arabicPeriod"/>
            </a:pPr>
            <a:r>
              <a:rPr b="1"/>
              <a:t>哈尔滨工业大学</a:t>
            </a:r>
            <a:r>
              <a:rPr/>
              <a:t>：机器人技术与系统国家重点实验室</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第四章：市场进入挑战与对策</a:t>
            </a:r>
          </a:p>
          <a:p>
            <a:pPr lvl="0" indent="0" marL="0">
              <a:spcBef>
                <a:spcPts val="3000"/>
              </a:spcBef>
              <a:buNone/>
            </a:pPr>
            <a:r>
              <a:rPr b="1"/>
              <a:t>4.1 技术挑战</a:t>
            </a:r>
          </a:p>
          <a:p>
            <a:pPr lvl="0" indent="0" marL="0">
              <a:spcBef>
                <a:spcPts val="3000"/>
              </a:spcBef>
              <a:buNone/>
            </a:pPr>
            <a:r>
              <a:rPr b="1"/>
              <a:t>4.1.1 核心技术壁垒</a:t>
            </a:r>
          </a:p>
          <a:p>
            <a:pPr lvl="0" indent="-342900" marL="342900">
              <a:buAutoNum type="arabicPeriod"/>
            </a:pPr>
            <a:r>
              <a:rPr b="1"/>
              <a:t>光学系统设计</a:t>
            </a:r>
            <a:r>
              <a:rPr/>
              <a:t>：小型化、高性能光学系统设计经验缺乏</a:t>
            </a:r>
          </a:p>
          <a:p>
            <a:pPr lvl="0" indent="-342900" marL="342900">
              <a:buAutoNum type="arabicPeriod"/>
            </a:pPr>
            <a:r>
              <a:rPr b="1"/>
              <a:t>弹性体材料配方</a:t>
            </a:r>
            <a:r>
              <a:rPr/>
              <a:t>：透明度、弹性、耐久性平衡的配方技术</a:t>
            </a:r>
          </a:p>
          <a:p>
            <a:pPr lvl="0" indent="-342900" marL="342900">
              <a:buAutoNum type="arabicPeriod"/>
            </a:pPr>
            <a:r>
              <a:rPr b="1"/>
              <a:t>算法开发</a:t>
            </a:r>
            <a:r>
              <a:rPr/>
              <a:t>：高精度、实时性力估计算法开发难度大</a:t>
            </a:r>
          </a:p>
          <a:p>
            <a:pPr lvl="0" indent="-342900" marL="342900">
              <a:buAutoNum type="arabicPeriod"/>
            </a:pPr>
            <a:r>
              <a:rPr b="1"/>
              <a:t>系统集成</a:t>
            </a:r>
            <a:r>
              <a:rPr/>
              <a:t>：硬件与软件协同优化经验不足</a:t>
            </a:r>
          </a:p>
          <a:p>
            <a:pPr lvl="0" indent="0" marL="0">
              <a:spcBef>
                <a:spcPts val="3000"/>
              </a:spcBef>
              <a:buNone/>
            </a:pPr>
            <a:r>
              <a:rPr b="1"/>
              <a:t>4.1.2 制造工艺挑战</a:t>
            </a:r>
          </a:p>
          <a:p>
            <a:pPr lvl="0" indent="-342900" marL="342900">
              <a:buAutoNum type="arabicPeriod"/>
            </a:pPr>
            <a:r>
              <a:rPr b="1"/>
              <a:t>精密制造</a:t>
            </a:r>
            <a:r>
              <a:rPr/>
              <a:t>：微米级精度的模具加工和注塑成型</a:t>
            </a:r>
          </a:p>
          <a:p>
            <a:pPr lvl="0" indent="-342900" marL="342900">
              <a:buAutoNum type="arabicPeriod"/>
            </a:pPr>
            <a:r>
              <a:rPr b="1"/>
              <a:t>光学对准</a:t>
            </a:r>
            <a:r>
              <a:rPr/>
              <a:t>：相机与弹性体的精确对准（&lt;0.1mm误差）</a:t>
            </a:r>
          </a:p>
          <a:p>
            <a:pPr lvl="0" indent="-342900" marL="342900">
              <a:buAutoNum type="arabicPeriod"/>
            </a:pPr>
            <a:r>
              <a:rPr b="1"/>
              <a:t>封装技术</a:t>
            </a:r>
            <a:r>
              <a:rPr/>
              <a:t>：防尘、防水密封技术</a:t>
            </a:r>
          </a:p>
          <a:p>
            <a:pPr lvl="0" indent="-342900" marL="342900">
              <a:buAutoNum type="arabicPeriod"/>
            </a:pPr>
            <a:r>
              <a:rPr b="1"/>
              <a:t>质量控制</a:t>
            </a:r>
            <a:r>
              <a:rPr/>
              <a:t>：批次一致性和良率控制</a:t>
            </a:r>
          </a:p>
          <a:p>
            <a:pPr lvl="0" indent="0" marL="0">
              <a:spcBef>
                <a:spcPts val="3000"/>
              </a:spcBef>
              <a:buNone/>
            </a:pPr>
            <a:r>
              <a:rPr b="1"/>
              <a:t>4.2 市场挑战</a:t>
            </a:r>
          </a:p>
          <a:p>
            <a:pPr lvl="0" indent="0" marL="0">
              <a:spcBef>
                <a:spcPts val="3000"/>
              </a:spcBef>
              <a:buNone/>
            </a:pPr>
            <a:r>
              <a:rPr b="1"/>
              <a:t>4.2.1 市场竞争</a:t>
            </a:r>
          </a:p>
          <a:p>
            <a:pPr lvl="0" indent="-342900" marL="342900">
              <a:buAutoNum type="arabicPeriod"/>
            </a:pPr>
            <a:r>
              <a:rPr b="1"/>
              <a:t>国际巨头垄断</a:t>
            </a:r>
            <a:r>
              <a:rPr/>
              <a:t>：GelSight等企业占据技术和市场先发优势</a:t>
            </a:r>
          </a:p>
          <a:p>
            <a:pPr lvl="0" indent="-342900" marL="342900">
              <a:buAutoNum type="arabicPeriod"/>
            </a:pPr>
            <a:r>
              <a:rPr b="1"/>
              <a:t>客户转换成本</a:t>
            </a:r>
            <a:r>
              <a:rPr/>
              <a:t>：现有解决方案的替换成本和风险</a:t>
            </a:r>
          </a:p>
          <a:p>
            <a:pPr lvl="0" indent="-342900" marL="342900">
              <a:buAutoNum type="arabicPeriod"/>
            </a:pPr>
            <a:r>
              <a:rPr b="1"/>
              <a:t>价格竞争</a:t>
            </a:r>
            <a:r>
              <a:rPr/>
              <a:t>：低成本竞争对手的价格压力</a:t>
            </a:r>
          </a:p>
          <a:p>
            <a:pPr lvl="0" indent="-342900" marL="342900">
              <a:buAutoNum type="arabicPeriod"/>
            </a:pPr>
            <a:r>
              <a:rPr b="1"/>
              <a:t>品牌认知</a:t>
            </a:r>
            <a:r>
              <a:rPr/>
              <a:t>：新进入者品牌知名度低</a:t>
            </a:r>
          </a:p>
          <a:p>
            <a:pPr lvl="0" indent="0" marL="0">
              <a:spcBef>
                <a:spcPts val="3000"/>
              </a:spcBef>
              <a:buNone/>
            </a:pPr>
            <a:r>
              <a:rPr b="1"/>
              <a:t>4.2.2 客户接受度</a:t>
            </a:r>
          </a:p>
          <a:p>
            <a:pPr lvl="0" indent="-342900" marL="342900">
              <a:buAutoNum type="arabicPeriod"/>
            </a:pPr>
            <a:r>
              <a:rPr b="1"/>
              <a:t>可靠性验证</a:t>
            </a:r>
            <a:r>
              <a:rPr/>
              <a:t>：需要长时间现场验证证明可靠性</a:t>
            </a:r>
          </a:p>
          <a:p>
            <a:pPr lvl="0" indent="-342900" marL="342900">
              <a:buAutoNum type="arabicPeriod"/>
            </a:pPr>
            <a:r>
              <a:rPr b="1"/>
              <a:t>技术成熟度</a:t>
            </a:r>
            <a:r>
              <a:rPr/>
              <a:t>：客户对新技术成熟度的担忧</a:t>
            </a:r>
          </a:p>
          <a:p>
            <a:pPr lvl="0" indent="-342900" marL="342900">
              <a:buAutoNum type="arabicPeriod"/>
            </a:pPr>
            <a:r>
              <a:rPr b="1"/>
              <a:t>集成难度</a:t>
            </a:r>
            <a:r>
              <a:rPr/>
              <a:t>：与现有系统的集成复杂性</a:t>
            </a:r>
          </a:p>
          <a:p>
            <a:pPr lvl="0" indent="-342900" marL="342900">
              <a:buAutoNum type="arabicPeriod"/>
            </a:pPr>
            <a:r>
              <a:rPr b="1"/>
              <a:t>培训成本</a:t>
            </a:r>
            <a:r>
              <a:rPr/>
              <a:t>：操作和维护人员的培训需求</a:t>
            </a:r>
          </a:p>
          <a:p>
            <a:pPr lvl="0" indent="0" marL="0">
              <a:spcBef>
                <a:spcPts val="3000"/>
              </a:spcBef>
              <a:buNone/>
            </a:pPr>
            <a:r>
              <a:rPr b="1"/>
              <a:t>4.3 认证与标准挑战</a:t>
            </a:r>
          </a:p>
          <a:p>
            <a:pPr lvl="0" indent="0" marL="0">
              <a:spcBef>
                <a:spcPts val="3000"/>
              </a:spcBef>
              <a:buNone/>
            </a:pPr>
            <a:r>
              <a:rPr b="1"/>
              <a:t>4.3.1 行业认证</a:t>
            </a:r>
          </a:p>
          <a:p>
            <a:pPr lvl="0" indent="-342900" marL="342900">
              <a:buAutoNum type="arabicPeriod"/>
            </a:pPr>
            <a:r>
              <a:rPr b="1"/>
              <a:t>医疗认证</a:t>
            </a:r>
            <a:r>
              <a:rPr/>
              <a:t>：FDA、CE医疗设备认证（耗时2-3年，成本高昂）</a:t>
            </a:r>
          </a:p>
          <a:p>
            <a:pPr lvl="0" indent="-342900" marL="342900">
              <a:buAutoNum type="arabicPeriod"/>
            </a:pPr>
            <a:r>
              <a:rPr b="1"/>
              <a:t>工业认证</a:t>
            </a:r>
            <a:r>
              <a:rPr/>
              <a:t>：CE、UL等安全认证</a:t>
            </a:r>
          </a:p>
          <a:p>
            <a:pPr lvl="0" indent="-342900" marL="342900">
              <a:buAutoNum type="arabicPeriod"/>
            </a:pPr>
            <a:r>
              <a:rPr b="1"/>
              <a:t>机器人认证</a:t>
            </a:r>
            <a:r>
              <a:rPr/>
              <a:t>：协作机器人安全认证</a:t>
            </a:r>
          </a:p>
          <a:p>
            <a:pPr lvl="0" indent="0" marL="0">
              <a:spcBef>
                <a:spcPts val="3000"/>
              </a:spcBef>
              <a:buNone/>
            </a:pPr>
            <a:r>
              <a:rPr b="1"/>
              <a:t>4.3.2 标准缺乏</a:t>
            </a:r>
          </a:p>
          <a:p>
            <a:pPr lvl="0" indent="-342900" marL="342900">
              <a:buAutoNum type="arabicPeriod"/>
            </a:pPr>
            <a:r>
              <a:rPr b="1"/>
              <a:t>接口标准</a:t>
            </a:r>
            <a:r>
              <a:rPr/>
              <a:t>：缺乏统一的电气和通信接口标准</a:t>
            </a:r>
          </a:p>
          <a:p>
            <a:pPr lvl="0" indent="-342900" marL="342900">
              <a:buAutoNum type="arabicPeriod"/>
            </a:pPr>
            <a:r>
              <a:rPr b="1"/>
              <a:t>测试标准</a:t>
            </a:r>
            <a:r>
              <a:rPr/>
              <a:t>：性能测试方法和标准不完善</a:t>
            </a:r>
          </a:p>
          <a:p>
            <a:pPr lvl="0" indent="-342900" marL="342900">
              <a:buAutoNum type="arabicPeriod"/>
            </a:pPr>
            <a:r>
              <a:rPr b="1"/>
              <a:t>数据格式</a:t>
            </a:r>
            <a:r>
              <a:rPr/>
              <a:t>：触觉数据格式和传输协议不统一</a:t>
            </a:r>
          </a:p>
          <a:p>
            <a:pPr lvl="0" indent="0" marL="0">
              <a:spcBef>
                <a:spcPts val="3000"/>
              </a:spcBef>
              <a:buNone/>
            </a:pPr>
            <a:r>
              <a:rPr b="1"/>
              <a:t>4.4 供应链挑战</a:t>
            </a:r>
          </a:p>
          <a:p>
            <a:pPr lvl="0" indent="0" marL="0">
              <a:spcBef>
                <a:spcPts val="3000"/>
              </a:spcBef>
              <a:buNone/>
            </a:pPr>
            <a:r>
              <a:rPr b="1"/>
              <a:t>4.4.1 关键组件供应</a:t>
            </a:r>
          </a:p>
          <a:p>
            <a:pPr lvl="0" indent="-342900" marL="342900">
              <a:buAutoNum type="arabicPeriod"/>
            </a:pPr>
            <a:r>
              <a:rPr b="1"/>
              <a:t>专用组件</a:t>
            </a:r>
            <a:r>
              <a:rPr/>
              <a:t>：高透明度硅胶、专用图像传感器供应不稳定</a:t>
            </a:r>
          </a:p>
          <a:p>
            <a:pPr lvl="0" indent="-342900" marL="342900">
              <a:buAutoNum type="arabicPeriod"/>
            </a:pPr>
            <a:r>
              <a:rPr b="1"/>
              <a:t>进口依赖</a:t>
            </a:r>
            <a:r>
              <a:rPr/>
              <a:t>：高端光学组件依赖进口，受国际贸易政策影响</a:t>
            </a:r>
          </a:p>
          <a:p>
            <a:pPr lvl="0" indent="-342900" marL="342900">
              <a:buAutoNum type="arabicPeriod"/>
            </a:pPr>
            <a:r>
              <a:rPr b="1"/>
              <a:t>供应商认证</a:t>
            </a:r>
            <a:r>
              <a:rPr/>
              <a:t>：医疗级材料供应商认证复杂</a:t>
            </a:r>
          </a:p>
          <a:p>
            <a:pPr lvl="0" indent="0" marL="0">
              <a:spcBef>
                <a:spcPts val="3000"/>
              </a:spcBef>
              <a:buNone/>
            </a:pPr>
            <a:r>
              <a:rPr b="1"/>
              <a:t>4.4.2 生产成本控制</a:t>
            </a:r>
          </a:p>
          <a:p>
            <a:pPr lvl="0" indent="-342900" marL="342900">
              <a:buAutoNum type="arabicPeriod"/>
            </a:pPr>
            <a:r>
              <a:rPr b="1"/>
              <a:t>小批量成本</a:t>
            </a:r>
            <a:r>
              <a:rPr/>
              <a:t>：初期小批量生产成本高</a:t>
            </a:r>
          </a:p>
          <a:p>
            <a:pPr lvl="0" indent="-342900" marL="342900">
              <a:buAutoNum type="arabicPeriod"/>
            </a:pPr>
            <a:r>
              <a:rPr b="1"/>
              <a:t>良率问题</a:t>
            </a:r>
            <a:r>
              <a:rPr/>
              <a:t>：制造工艺不成熟导致良率低</a:t>
            </a:r>
          </a:p>
          <a:p>
            <a:pPr lvl="0" indent="-342900" marL="342900">
              <a:buAutoNum type="arabicPeriod"/>
            </a:pPr>
            <a:r>
              <a:rPr b="1"/>
              <a:t>测试成本</a:t>
            </a:r>
            <a:r>
              <a:rPr/>
              <a:t>：每台传感器需要单独校准测试</a:t>
            </a:r>
          </a:p>
          <a:p>
            <a:pPr lvl="0" indent="0" marL="0">
              <a:spcBef>
                <a:spcPts val="3000"/>
              </a:spcBef>
              <a:buNone/>
            </a:pPr>
            <a:r>
              <a:rPr b="1"/>
              <a:t>4.5 应对策略建议</a:t>
            </a:r>
          </a:p>
          <a:p>
            <a:pPr lvl="0" indent="0" marL="0">
              <a:spcBef>
                <a:spcPts val="3000"/>
              </a:spcBef>
              <a:buNone/>
            </a:pPr>
            <a:r>
              <a:rPr b="1"/>
              <a:t>4.5.1 技术发展策略</a:t>
            </a:r>
          </a:p>
          <a:p>
            <a:pPr lvl="0" indent="-342900" marL="342900">
              <a:buAutoNum type="arabicPeriod"/>
            </a:pPr>
            <a:r>
              <a:rPr b="1"/>
              <a:t>产学研合作</a:t>
            </a:r>
            <a:r>
              <a:rPr/>
              <a:t>：与高校和研究机构合作，获取技术支持</a:t>
            </a:r>
          </a:p>
          <a:p>
            <a:pPr lvl="0" indent="-342900" marL="342900">
              <a:buAutoNum type="arabicPeriod"/>
            </a:pPr>
            <a:r>
              <a:rPr b="1"/>
              <a:t>模块化设计</a:t>
            </a:r>
            <a:r>
              <a:rPr/>
              <a:t>：采用模块化设计降低开发难度</a:t>
            </a:r>
          </a:p>
          <a:p>
            <a:pPr lvl="0" indent="-342900" marL="342900">
              <a:buAutoNum type="arabicPeriod"/>
            </a:pPr>
            <a:r>
              <a:rPr b="1"/>
              <a:t>开源借鉴</a:t>
            </a:r>
            <a:r>
              <a:rPr/>
              <a:t>：借鉴开源项目（如TacTip）缩短开发周期</a:t>
            </a:r>
          </a:p>
          <a:p>
            <a:pPr lvl="0" indent="-342900" marL="342900">
              <a:buAutoNum type="arabicPeriod"/>
            </a:pPr>
            <a:r>
              <a:rPr b="1"/>
              <a:t>渐进式创新</a:t>
            </a:r>
            <a:r>
              <a:rPr/>
              <a:t>：从改进现有技术开始，逐步自主创新</a:t>
            </a:r>
          </a:p>
          <a:p>
            <a:pPr lvl="0" indent="0" marL="0">
              <a:spcBef>
                <a:spcPts val="3000"/>
              </a:spcBef>
              <a:buNone/>
            </a:pPr>
            <a:r>
              <a:rPr b="1"/>
              <a:t>4.5.2 市场进入策略</a:t>
            </a:r>
          </a:p>
          <a:p>
            <a:pPr lvl="0" indent="-342900" marL="342900">
              <a:buAutoNum type="arabicPeriod"/>
            </a:pPr>
            <a:r>
              <a:rPr b="1"/>
              <a:t>细分市场切入</a:t>
            </a:r>
            <a:r>
              <a:rPr/>
              <a:t>：选择竞争较小的细分市场（如科研教育）</a:t>
            </a:r>
          </a:p>
          <a:p>
            <a:pPr lvl="0" indent="-342900" marL="342900">
              <a:buAutoNum type="arabicPeriod"/>
            </a:pPr>
            <a:r>
              <a:rPr b="1"/>
              <a:t>差异化定位</a:t>
            </a:r>
            <a:r>
              <a:rPr/>
              <a:t>：针对特定应用场景提供定制化解决方案</a:t>
            </a:r>
          </a:p>
          <a:p>
            <a:pPr lvl="0" indent="-342900" marL="342900">
              <a:buAutoNum type="arabicPeriod"/>
            </a:pPr>
            <a:r>
              <a:rPr b="1"/>
              <a:t>合作联盟</a:t>
            </a:r>
            <a:r>
              <a:rPr/>
              <a:t>：与系统集成商合作，借助其渠道进入市场</a:t>
            </a:r>
          </a:p>
          <a:p>
            <a:pPr lvl="0" indent="-342900" marL="342900">
              <a:buAutoNum type="arabicPeriod"/>
            </a:pPr>
            <a:r>
              <a:rPr b="1"/>
              <a:t>标杆客户突破</a:t>
            </a:r>
            <a:r>
              <a:rPr/>
              <a:t>：争取行业标杆客户，建立示范案例</a:t>
            </a:r>
          </a:p>
          <a:p>
            <a:pPr lvl="0" indent="0" marL="0">
              <a:spcBef>
                <a:spcPts val="3000"/>
              </a:spcBef>
              <a:buNone/>
            </a:pPr>
            <a:r>
              <a:rPr b="1"/>
              <a:t>4.5.3 供应链管理策略</a:t>
            </a:r>
          </a:p>
          <a:p>
            <a:pPr lvl="0" indent="-342900" marL="342900">
              <a:buAutoNum type="arabicPeriod"/>
            </a:pPr>
            <a:r>
              <a:rPr b="1"/>
              <a:t>国产替代</a:t>
            </a:r>
            <a:r>
              <a:rPr/>
              <a:t>：积极寻找国产替代供应商，降低进口依赖</a:t>
            </a:r>
          </a:p>
          <a:p>
            <a:pPr lvl="0" indent="-342900" marL="342900">
              <a:buAutoNum type="arabicPeriod"/>
            </a:pPr>
            <a:r>
              <a:rPr b="1"/>
              <a:t>战略库存</a:t>
            </a:r>
            <a:r>
              <a:rPr/>
              <a:t>：对关键组件建立安全库存</a:t>
            </a:r>
          </a:p>
          <a:p>
            <a:pPr lvl="0" indent="-342900" marL="342900">
              <a:buAutoNum type="arabicPeriod"/>
            </a:pPr>
            <a:r>
              <a:rPr b="1"/>
              <a:t>供应商开发</a:t>
            </a:r>
            <a:r>
              <a:rPr/>
              <a:t>：与供应商共同开发专用组件</a:t>
            </a:r>
          </a:p>
          <a:p>
            <a:pPr lvl="0" indent="-342900" marL="342900">
              <a:buAutoNum type="arabicPeriod"/>
            </a:pPr>
            <a:r>
              <a:rPr b="1"/>
              <a:t>成本优化</a:t>
            </a:r>
            <a:r>
              <a:rPr/>
              <a:t>：通过设计优化和工艺改进降低成本</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第五章：技术验证与性能评估</a:t>
            </a:r>
          </a:p>
          <a:p>
            <a:pPr lvl="0" indent="0" marL="0">
              <a:spcBef>
                <a:spcPts val="3000"/>
              </a:spcBef>
              <a:buNone/>
            </a:pPr>
            <a:r>
              <a:rPr b="1"/>
              <a:t>5.1 实验验证框架</a:t>
            </a:r>
          </a:p>
          <a:p>
            <a:pPr lvl="0" indent="0" marL="0">
              <a:buNone/>
            </a:pPr>
            <a:r>
              <a:rPr/>
              <a:t>基于本项目的技术验证工作，建立了完整的视触传感器算法验证框架：</a:t>
            </a:r>
          </a:p>
          <a:p>
            <a:pPr lvl="0" indent="0" marL="0">
              <a:spcBef>
                <a:spcPts val="3000"/>
              </a:spcBef>
              <a:buNone/>
            </a:pPr>
            <a:r>
              <a:rPr b="1"/>
              <a:t>5.1.1 算法库架构</a:t>
            </a:r>
          </a:p>
          <a:p>
            <a:pPr lvl="0" indent="0">
              <a:buNone/>
            </a:pPr>
            <a:r>
              <a:rPr>
                <a:latin typeface="Courier"/>
              </a:rPr>
              <a:t>vbts_algorithms/
├── src/algorithms/
│   ├── marker_detection.py      # 标记检测算法
│   └── force_estimation.py      # 力估计算法（Hertz, Boussinesq, FEM）
├── tests/                       # 单元测试
└── examples/                    # 使用示例</a:t>
            </a:r>
          </a:p>
          <a:p>
            <a:pPr lvl="0" indent="0" marL="0">
              <a:spcBef>
                <a:spcPts val="3000"/>
              </a:spcBef>
              <a:buNone/>
            </a:pPr>
            <a:r>
              <a:rPr b="1"/>
              <a:t>5.1.2 实验验证系统</a:t>
            </a:r>
          </a:p>
          <a:p>
            <a:pPr lvl="0" indent="0">
              <a:buNone/>
            </a:pPr>
            <a:r>
              <a:rPr>
                <a:latin typeface="Courier"/>
              </a:rPr>
              <a:t>experimental_validation/
├── scripts/analysis/
│   ├── marker_detection_validation.py    # 标记检测验证
│   └── force_estimation_validation.py    # 力估计验证
├── experiments/                          # 实验设计
└── results/                              # 验证结果</a:t>
            </a:r>
          </a:p>
          <a:p>
            <a:pPr lvl="0" indent="0" marL="0">
              <a:spcBef>
                <a:spcPts val="3000"/>
              </a:spcBef>
              <a:buNone/>
            </a:pPr>
            <a:r>
              <a:rPr b="1"/>
              <a:t>5.2 力估计算法性能验证</a:t>
            </a:r>
          </a:p>
          <a:p>
            <a:pPr lvl="0" indent="0" marL="0">
              <a:spcBef>
                <a:spcPts val="3000"/>
              </a:spcBef>
              <a:buNone/>
            </a:pPr>
            <a:r>
              <a:rPr b="1"/>
              <a:t>5.2.1 验证方法</a:t>
            </a:r>
          </a:p>
          <a:p>
            <a:pPr lvl="0" indent="-342900" marL="342900">
              <a:buAutoNum type="arabicPeriod"/>
            </a:pPr>
            <a:r>
              <a:rPr b="1"/>
              <a:t>合成数据生成</a:t>
            </a:r>
            <a:r>
              <a:rPr/>
              <a:t>：基于Boussinesq弹性理论生成真实位移场</a:t>
            </a:r>
          </a:p>
          <a:p>
            <a:pPr lvl="0" indent="-342900" marL="342900">
              <a:buAutoNum type="arabicPeriod"/>
            </a:pPr>
            <a:r>
              <a:rPr b="1"/>
              <a:t>多维度测试</a:t>
            </a:r>
            <a:r>
              <a:rPr/>
              <a:t>：不同力大小、材料参数、噪声水平的组合测试</a:t>
            </a:r>
          </a:p>
          <a:p>
            <a:pPr lvl="0" indent="-342900" marL="342900">
              <a:buAutoNum type="arabicPeriod"/>
            </a:pPr>
            <a:r>
              <a:rPr b="1"/>
              <a:t>性能指标</a:t>
            </a:r>
            <a:r>
              <a:rPr/>
              <a:t>：绝对误差、相对误差、计算时间</a:t>
            </a:r>
          </a:p>
          <a:p>
            <a:pPr lvl="0" indent="0" marL="0">
              <a:spcBef>
                <a:spcPts val="3000"/>
              </a:spcBef>
              <a:buNone/>
            </a:pPr>
            <a:r>
              <a:rPr b="1"/>
              <a:t>5.2.2 验证结果（基于64个测试用例的完整验证）</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16000"/>
                <a:gridCol w="1016000"/>
                <a:gridCol w="1016000"/>
                <a:gridCol w="1016000"/>
                <a:gridCol w="1016000"/>
              </a:tblGrid>
              <a:tr h="0">
                <a:tc>
                  <a:txBody>
                    <a:bodyPr/>
                    <a:lstStyle/>
                    <a:p>
                      <a:pPr lvl="0" indent="0" marL="0">
                        <a:buNone/>
                      </a:pPr>
                      <a:r>
                        <a:rPr/>
                        <a:t>力估计方法</a:t>
                      </a:r>
                    </a:p>
                  </a:txBody>
                  <a:tcPr/>
                </a:tc>
                <a:tc>
                  <a:txBody>
                    <a:bodyPr/>
                    <a:lstStyle/>
                    <a:p>
                      <a:pPr lvl="0" indent="0" marL="0">
                        <a:buNone/>
                      </a:pPr>
                      <a:r>
                        <a:rPr/>
                        <a:t>平均相对误差</a:t>
                      </a:r>
                    </a:p>
                  </a:txBody>
                  <a:tcPr/>
                </a:tc>
                <a:tc>
                  <a:txBody>
                    <a:bodyPr/>
                    <a:lstStyle/>
                    <a:p>
                      <a:pPr lvl="0" indent="0" marL="0">
                        <a:buNone/>
                      </a:pPr>
                      <a:r>
                        <a:rPr/>
                        <a:t>平均绝对误差</a:t>
                      </a:r>
                    </a:p>
                  </a:txBody>
                  <a:tcPr/>
                </a:tc>
                <a:tc>
                  <a:txBody>
                    <a:bodyPr/>
                    <a:lstStyle/>
                    <a:p>
                      <a:pPr lvl="0" indent="0" marL="0">
                        <a:buNone/>
                      </a:pPr>
                      <a:r>
                        <a:rPr/>
                        <a:t>平均计算时间</a:t>
                      </a:r>
                    </a:p>
                  </a:txBody>
                  <a:tcPr/>
                </a:tc>
                <a:tc>
                  <a:txBody>
                    <a:bodyPr/>
                    <a:lstStyle/>
                    <a:p>
                      <a:pPr lvl="0" indent="0" marL="0">
                        <a:buNone/>
                      </a:pPr>
                      <a:r>
                        <a:rPr/>
                        <a:t>适用场景</a:t>
                      </a:r>
                    </a:p>
                  </a:txBody>
                  <a:tcPr/>
                </a:tc>
              </a:tr>
              <a:tr h="0">
                <a:tc>
                  <a:txBody>
                    <a:bodyPr/>
                    <a:lstStyle/>
                    <a:p>
                      <a:pPr lvl="0" indent="0" marL="0">
                        <a:buNone/>
                      </a:pPr>
                      <a:r>
                        <a:rPr b="1"/>
                        <a:t>Hertz接触理论</a:t>
                      </a:r>
                    </a:p>
                  </a:txBody>
                </a:tc>
                <a:tc>
                  <a:txBody>
                    <a:bodyPr/>
                    <a:lstStyle/>
                    <a:p>
                      <a:pPr lvl="0" indent="0" marL="0">
                        <a:buNone/>
                      </a:pPr>
                      <a:r>
                        <a:rPr/>
                        <a:t>67.8%</a:t>
                      </a:r>
                    </a:p>
                  </a:txBody>
                </a:tc>
                <a:tc>
                  <a:txBody>
                    <a:bodyPr/>
                    <a:lstStyle/>
                    <a:p>
                      <a:pPr lvl="0" indent="0" marL="0">
                        <a:buNone/>
                      </a:pPr>
                      <a:r>
                        <a:rPr/>
                        <a:t>11.8N</a:t>
                      </a:r>
                    </a:p>
                  </a:txBody>
                </a:tc>
                <a:tc>
                  <a:txBody>
                    <a:bodyPr/>
                    <a:lstStyle/>
                    <a:p>
                      <a:pPr lvl="0" indent="0" marL="0">
                        <a:buNone/>
                      </a:pPr>
                      <a:r>
                        <a:rPr/>
                        <a:t>0.19ms</a:t>
                      </a:r>
                    </a:p>
                  </a:txBody>
                </a:tc>
                <a:tc>
                  <a:txBody>
                    <a:bodyPr/>
                    <a:lstStyle/>
                    <a:p>
                      <a:pPr lvl="0" indent="0" marL="0">
                        <a:buNone/>
                      </a:pPr>
                      <a:r>
                        <a:rPr/>
                        <a:t>点接触，小变形，计算最快</a:t>
                      </a:r>
                    </a:p>
                  </a:txBody>
                </a:tc>
              </a:tr>
              <a:tr h="0">
                <a:tc>
                  <a:txBody>
                    <a:bodyPr/>
                    <a:lstStyle/>
                    <a:p>
                      <a:pPr lvl="0" indent="0" marL="0">
                        <a:buNone/>
                      </a:pPr>
                      <a:r>
                        <a:rPr b="1"/>
                        <a:t>Boussinesq解</a:t>
                      </a:r>
                    </a:p>
                  </a:txBody>
                </a:tc>
                <a:tc>
                  <a:txBody>
                    <a:bodyPr/>
                    <a:lstStyle/>
                    <a:p>
                      <a:pPr lvl="0" indent="0" marL="0">
                        <a:buNone/>
                      </a:pPr>
                      <a:r>
                        <a:rPr/>
                        <a:t>153.8%</a:t>
                      </a:r>
                    </a:p>
                  </a:txBody>
                </a:tc>
                <a:tc>
                  <a:txBody>
                    <a:bodyPr/>
                    <a:lstStyle/>
                    <a:p>
                      <a:pPr lvl="0" indent="0" marL="0">
                        <a:buNone/>
                      </a:pPr>
                      <a:r>
                        <a:rPr/>
                        <a:t>15.8N</a:t>
                      </a:r>
                    </a:p>
                  </a:txBody>
                </a:tc>
                <a:tc>
                  <a:txBody>
                    <a:bodyPr/>
                    <a:lstStyle/>
                    <a:p>
                      <a:pPr lvl="0" indent="0" marL="0">
                        <a:buNone/>
                      </a:pPr>
                      <a:r>
                        <a:rPr/>
                        <a:t>5861ms</a:t>
                      </a:r>
                    </a:p>
                  </a:txBody>
                </a:tc>
                <a:tc>
                  <a:txBody>
                    <a:bodyPr/>
                    <a:lstStyle/>
                    <a:p>
                      <a:pPr lvl="0" indent="0" marL="0">
                        <a:buNone/>
                      </a:pPr>
                      <a:r>
                        <a:rPr/>
                        <a:t>弹性半空间，计算耗时最长，需参数优化</a:t>
                      </a:r>
                    </a:p>
                  </a:txBody>
                </a:tc>
              </a:tr>
              <a:tr h="0">
                <a:tc>
                  <a:txBody>
                    <a:bodyPr/>
                    <a:lstStyle/>
                    <a:p>
                      <a:pPr lvl="0" indent="0" marL="0">
                        <a:buNone/>
                      </a:pPr>
                      <a:r>
                        <a:rPr b="1"/>
                        <a:t>有限元逆问题</a:t>
                      </a:r>
                    </a:p>
                  </a:txBody>
                </a:tc>
                <a:tc>
                  <a:txBody>
                    <a:bodyPr/>
                    <a:lstStyle/>
                    <a:p>
                      <a:pPr lvl="0" indent="0" marL="0">
                        <a:buNone/>
                      </a:pPr>
                      <a:r>
                        <a:rPr/>
                        <a:t>932.2%</a:t>
                      </a:r>
                    </a:p>
                  </a:txBody>
                </a:tc>
                <a:tc>
                  <a:txBody>
                    <a:bodyPr/>
                    <a:lstStyle/>
                    <a:p>
                      <a:pPr lvl="0" indent="0" marL="0">
                        <a:buNone/>
                      </a:pPr>
                      <a:r>
                        <a:rPr/>
                        <a:t>97.9N</a:t>
                      </a:r>
                    </a:p>
                  </a:txBody>
                </a:tc>
                <a:tc>
                  <a:txBody>
                    <a:bodyPr/>
                    <a:lstStyle/>
                    <a:p>
                      <a:pPr lvl="0" indent="0" marL="0">
                        <a:buNone/>
                      </a:pPr>
                      <a:r>
                        <a:rPr/>
                        <a:t>18.3ms</a:t>
                      </a:r>
                    </a:p>
                  </a:txBody>
                </a:tc>
                <a:tc>
                  <a:txBody>
                    <a:bodyPr/>
                    <a:lstStyle/>
                    <a:p>
                      <a:pPr lvl="0" indent="0" marL="0">
                        <a:buNone/>
                      </a:pPr>
                      <a:r>
                        <a:rPr/>
                        <a:t>复杂变形，数值不稳定，误差最大</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5.2.3 关键发现（基于64测试用例验证）</a:t>
            </a:r>
          </a:p>
          <a:p>
            <a:pPr lvl="0" indent="-342900" marL="342900">
              <a:buAutoNum type="arabicPeriod"/>
            </a:pPr>
            <a:r>
              <a:rPr b="1"/>
              <a:t>Hertz方法</a:t>
            </a:r>
            <a:r>
              <a:rPr/>
              <a:t>：计算速度最快（0.19ms），平均相对误差67.8%，适用于点接触场景，误差主要来源于接触面积估计不准确</a:t>
            </a:r>
          </a:p>
          <a:p>
            <a:pPr lvl="0" indent="-342900" marL="342900">
              <a:buAutoNum type="arabicPeriod"/>
            </a:pPr>
            <a:r>
              <a:rPr b="1"/>
              <a:t>Boussinesq方法</a:t>
            </a:r>
            <a:r>
              <a:rPr/>
              <a:t>：理论基础扎实，但计算耗时最长（5.86秒），平均相对误差153.8%，需要进一步优化网格分辨率和正则化参数</a:t>
            </a:r>
          </a:p>
          <a:p>
            <a:pPr lvl="0" indent="-342900" marL="342900">
              <a:buAutoNum type="arabicPeriod"/>
            </a:pPr>
            <a:r>
              <a:rPr b="1"/>
              <a:t>FEM方法</a:t>
            </a:r>
            <a:r>
              <a:rPr/>
              <a:t>：数值不稳定问题严重，平均相对误差高达932.2%，最大误差超过6000%，需要改进正则化方法和刚度矩阵构建</a:t>
            </a:r>
          </a:p>
          <a:p>
            <a:pPr lvl="0" indent="-342900" marL="342900">
              <a:buAutoNum type="arabicPeriod"/>
            </a:pPr>
            <a:r>
              <a:rPr b="1"/>
              <a:t>整体性能</a:t>
            </a:r>
            <a:r>
              <a:rPr/>
              <a:t>：当前算法在合成数据测试中表现未达预期，需要进一步优化物理模型和参数校准</a:t>
            </a:r>
          </a:p>
          <a:p>
            <a:pPr lvl="0" indent="0" marL="0">
              <a:spcBef>
                <a:spcPts val="3000"/>
              </a:spcBef>
              <a:buNone/>
            </a:pPr>
            <a:r>
              <a:rPr b="1"/>
              <a:t>5.3 技术成熟度评估</a:t>
            </a:r>
          </a:p>
          <a:p>
            <a:pPr lvl="0" indent="0" marL="0">
              <a:spcBef>
                <a:spcPts val="3000"/>
              </a:spcBef>
              <a:buNone/>
            </a:pPr>
            <a:r>
              <a:rPr b="1"/>
              <a:t>5.3.1 算法成熟度（TRL等级）</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技术组件</a:t>
                      </a:r>
                    </a:p>
                  </a:txBody>
                  <a:tcPr/>
                </a:tc>
                <a:tc>
                  <a:txBody>
                    <a:bodyPr/>
                    <a:lstStyle/>
                    <a:p>
                      <a:pPr lvl="0" indent="0" marL="0">
                        <a:buNone/>
                      </a:pPr>
                      <a:r>
                        <a:rPr/>
                        <a:t>TRL等级</a:t>
                      </a:r>
                    </a:p>
                  </a:txBody>
                  <a:tcPr/>
                </a:tc>
                <a:tc>
                  <a:txBody>
                    <a:bodyPr/>
                    <a:lstStyle/>
                    <a:p>
                      <a:pPr lvl="0" indent="0" marL="0">
                        <a:buNone/>
                      </a:pPr>
                      <a:r>
                        <a:rPr/>
                        <a:t>说明</a:t>
                      </a:r>
                    </a:p>
                  </a:txBody>
                  <a:tcPr/>
                </a:tc>
              </a:tr>
              <a:tr h="0">
                <a:tc>
                  <a:txBody>
                    <a:bodyPr/>
                    <a:lstStyle/>
                    <a:p>
                      <a:pPr lvl="0" indent="0" marL="0">
                        <a:buNone/>
                      </a:pPr>
                      <a:r>
                        <a:rPr b="1"/>
                        <a:t>标记检测算法</a:t>
                      </a:r>
                    </a:p>
                  </a:txBody>
                </a:tc>
                <a:tc>
                  <a:txBody>
                    <a:bodyPr/>
                    <a:lstStyle/>
                    <a:p>
                      <a:pPr lvl="0" indent="0" marL="0">
                        <a:buNone/>
                      </a:pPr>
                      <a:r>
                        <a:rPr/>
                        <a:t>TRL 6-7</a:t>
                      </a:r>
                    </a:p>
                  </a:txBody>
                </a:tc>
                <a:tc>
                  <a:txBody>
                    <a:bodyPr/>
                    <a:lstStyle/>
                    <a:p>
                      <a:pPr lvl="0" indent="0" marL="0">
                        <a:buNone/>
                      </a:pPr>
                      <a:r>
                        <a:rPr/>
                        <a:t>实验室环境验证，部分工业应用</a:t>
                      </a:r>
                    </a:p>
                  </a:txBody>
                </a:tc>
              </a:tr>
              <a:tr h="0">
                <a:tc>
                  <a:txBody>
                    <a:bodyPr/>
                    <a:lstStyle/>
                    <a:p>
                      <a:pPr lvl="0" indent="0" marL="0">
                        <a:buNone/>
                      </a:pPr>
                      <a:r>
                        <a:rPr b="1"/>
                        <a:t>Hertz力估计</a:t>
                      </a:r>
                    </a:p>
                  </a:txBody>
                </a:tc>
                <a:tc>
                  <a:txBody>
                    <a:bodyPr/>
                    <a:lstStyle/>
                    <a:p>
                      <a:pPr lvl="0" indent="0" marL="0">
                        <a:buNone/>
                      </a:pPr>
                      <a:r>
                        <a:rPr/>
                        <a:t>TRL 5-6</a:t>
                      </a:r>
                    </a:p>
                  </a:txBody>
                </a:tc>
                <a:tc>
                  <a:txBody>
                    <a:bodyPr/>
                    <a:lstStyle/>
                    <a:p>
                      <a:pPr lvl="0" indent="0" marL="0">
                        <a:buNone/>
                      </a:pPr>
                      <a:r>
                        <a:rPr/>
                        <a:t>实验室验证，需要现场校准</a:t>
                      </a:r>
                    </a:p>
                  </a:txBody>
                </a:tc>
              </a:tr>
              <a:tr h="0">
                <a:tc>
                  <a:txBody>
                    <a:bodyPr/>
                    <a:lstStyle/>
                    <a:p>
                      <a:pPr lvl="0" indent="0" marL="0">
                        <a:buNone/>
                      </a:pPr>
                      <a:r>
                        <a:rPr b="1"/>
                        <a:t>Boussinesq力估计</a:t>
                      </a:r>
                    </a:p>
                  </a:txBody>
                </a:tc>
                <a:tc>
                  <a:txBody>
                    <a:bodyPr/>
                    <a:lstStyle/>
                    <a:p>
                      <a:pPr lvl="0" indent="0" marL="0">
                        <a:buNone/>
                      </a:pPr>
                      <a:r>
                        <a:rPr/>
                        <a:t>TRL 4-5</a:t>
                      </a:r>
                    </a:p>
                  </a:txBody>
                </a:tc>
                <a:tc>
                  <a:txBody>
                    <a:bodyPr/>
                    <a:lstStyle/>
                    <a:p>
                      <a:pPr lvl="0" indent="0" marL="0">
                        <a:buNone/>
                      </a:pPr>
                      <a:r>
                        <a:rPr/>
                        <a:t>实验室验证，参数优化进行中</a:t>
                      </a:r>
                    </a:p>
                  </a:txBody>
                </a:tc>
              </a:tr>
              <a:tr h="0">
                <a:tc>
                  <a:txBody>
                    <a:bodyPr/>
                    <a:lstStyle/>
                    <a:p>
                      <a:pPr lvl="0" indent="0" marL="0">
                        <a:buNone/>
                      </a:pPr>
                      <a:r>
                        <a:rPr b="1"/>
                        <a:t>有限元逆问题</a:t>
                      </a:r>
                    </a:p>
                  </a:txBody>
                </a:tc>
                <a:tc>
                  <a:txBody>
                    <a:bodyPr/>
                    <a:lstStyle/>
                    <a:p>
                      <a:pPr lvl="0" indent="0" marL="0">
                        <a:buNone/>
                      </a:pPr>
                      <a:r>
                        <a:rPr/>
                        <a:t>TRL 3-4</a:t>
                      </a:r>
                    </a:p>
                  </a:txBody>
                </a:tc>
                <a:tc>
                  <a:txBody>
                    <a:bodyPr/>
                    <a:lstStyle/>
                    <a:p>
                      <a:pPr lvl="0" indent="0" marL="0">
                        <a:buNone/>
                      </a:pPr>
                      <a:r>
                        <a:rPr/>
                        <a:t>概念验证，数值稳定性需改进</a:t>
                      </a:r>
                    </a:p>
                  </a:txBody>
                </a:tc>
              </a:tr>
            </a:tbl>
          </a:graphicData>
        </a:graphic>
      </p:graphicFrame>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5.3.2 技术差距分析</a:t>
            </a:r>
          </a:p>
          <a:p>
            <a:pPr lvl="0" indent="-342900" marL="342900">
              <a:buAutoNum type="arabicPeriod"/>
            </a:pPr>
            <a:r>
              <a:rPr b="1"/>
              <a:t>与实际传感器差距</a:t>
            </a:r>
            <a:r>
              <a:rPr/>
              <a:t>：合成数据与真实传感器数据存在差异</a:t>
            </a:r>
          </a:p>
          <a:p>
            <a:pPr lvl="0" indent="-342900" marL="342900">
              <a:buAutoNum type="arabicPeriod"/>
            </a:pPr>
            <a:r>
              <a:rPr b="1"/>
              <a:t>实时性需求</a:t>
            </a:r>
            <a:r>
              <a:rPr/>
              <a:t>：部分算法计算时间过长，难以满足实时控制</a:t>
            </a:r>
          </a:p>
          <a:p>
            <a:pPr lvl="0" indent="-342900" marL="342900">
              <a:buAutoNum type="arabicPeriod"/>
            </a:pPr>
            <a:r>
              <a:rPr b="1"/>
              <a:t>鲁棒性不足</a:t>
            </a:r>
            <a:r>
              <a:rPr/>
              <a:t>：对噪声和光照变化的适应性需提升</a:t>
            </a:r>
          </a:p>
          <a:p>
            <a:pPr lvl="0" indent="-342900" marL="342900">
              <a:buAutoNum type="arabicPeriod"/>
            </a:pPr>
            <a:r>
              <a:rPr b="1"/>
              <a:t>校准复杂性</a:t>
            </a:r>
            <a:r>
              <a:rPr/>
              <a:t>：需要复杂的现场校准流程</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第六章：发展建议与未来展望</a:t>
            </a:r>
          </a:p>
          <a:p>
            <a:pPr lvl="0" indent="0" marL="0">
              <a:spcBef>
                <a:spcPts val="3000"/>
              </a:spcBef>
              <a:buNone/>
            </a:pPr>
            <a:r>
              <a:rPr b="1"/>
              <a:t>6.1 行业发展建议</a:t>
            </a:r>
          </a:p>
          <a:p>
            <a:pPr lvl="0" indent="0" marL="0">
              <a:spcBef>
                <a:spcPts val="3000"/>
              </a:spcBef>
              <a:buNone/>
            </a:pPr>
            <a:r>
              <a:rPr b="1"/>
              <a:t>6.1.1 技术发展建议</a:t>
            </a:r>
          </a:p>
          <a:p>
            <a:pPr lvl="0" indent="-342900" marL="342900">
              <a:buAutoNum type="arabicPeriod"/>
            </a:pPr>
            <a:r>
              <a:rPr b="1"/>
              <a:t>加强基础研究</a:t>
            </a:r>
            <a:r>
              <a:rPr/>
              <a:t>：持续投入弹性体材料、光学系统和核心算法研究</a:t>
            </a:r>
          </a:p>
          <a:p>
            <a:pPr lvl="0" indent="-342900" marL="342900">
              <a:buAutoNum type="arabicPeriod"/>
            </a:pPr>
            <a:r>
              <a:rPr b="1"/>
              <a:t>推动标准化</a:t>
            </a:r>
            <a:r>
              <a:rPr/>
              <a:t>：联合产业界制定接口、测试和数据格式标准</a:t>
            </a:r>
          </a:p>
          <a:p>
            <a:pPr lvl="0" indent="-342900" marL="342900">
              <a:buAutoNum type="arabicPeriod"/>
            </a:pPr>
            <a:r>
              <a:rPr b="1"/>
              <a:t>构建开放生态</a:t>
            </a:r>
            <a:r>
              <a:rPr/>
              <a:t>：建立开源算法库和共享数据集，降低技术门槛</a:t>
            </a:r>
          </a:p>
          <a:p>
            <a:pPr lvl="0" indent="-342900" marL="342900">
              <a:buAutoNum type="arabicPeriod"/>
            </a:pPr>
            <a:r>
              <a:rPr b="1"/>
              <a:t>促进产学研合作</a:t>
            </a:r>
            <a:r>
              <a:rPr/>
              <a:t>：建立产业联盟，加速技术转移和产业化</a:t>
            </a:r>
          </a:p>
          <a:p>
            <a:pPr lvl="0" indent="0" marL="0">
              <a:spcBef>
                <a:spcPts val="3000"/>
              </a:spcBef>
              <a:buNone/>
            </a:pPr>
            <a:r>
              <a:rPr b="1"/>
              <a:t>6.1.2 市场发展建议</a:t>
            </a:r>
          </a:p>
          <a:p>
            <a:pPr lvl="0" indent="-342900" marL="342900">
              <a:buAutoNum type="arabicPeriod"/>
            </a:pPr>
            <a:r>
              <a:rPr b="1"/>
              <a:t>培育应用生态</a:t>
            </a:r>
            <a:r>
              <a:rPr/>
              <a:t>：支持应用开发商，丰富应用场景</a:t>
            </a:r>
          </a:p>
          <a:p>
            <a:pPr lvl="0" indent="-342900" marL="342900">
              <a:buAutoNum type="arabicPeriod"/>
            </a:pPr>
            <a:r>
              <a:rPr b="1"/>
              <a:t>加强示范应用</a:t>
            </a:r>
            <a:r>
              <a:rPr/>
              <a:t>：在重点行业建立示范项目，验证技术可行性</a:t>
            </a:r>
          </a:p>
          <a:p>
            <a:pPr lvl="0" indent="-342900" marL="342900">
              <a:buAutoNum type="arabicPeriod"/>
            </a:pPr>
            <a:r>
              <a:rPr b="1"/>
              <a:t>拓展新兴市场</a:t>
            </a:r>
            <a:r>
              <a:rPr/>
              <a:t>：关注医疗、消费电子等新兴应用领域</a:t>
            </a:r>
          </a:p>
          <a:p>
            <a:pPr lvl="0" indent="-342900" marL="342900">
              <a:buAutoNum type="arabicPeriod"/>
            </a:pPr>
            <a:r>
              <a:rPr b="1"/>
              <a:t>国际化布局</a:t>
            </a:r>
            <a:r>
              <a:rPr/>
              <a:t>：积极参与国际市场竞争和技术合作</a:t>
            </a:r>
          </a:p>
          <a:p>
            <a:pPr lvl="0" indent="0" marL="0">
              <a:spcBef>
                <a:spcPts val="3000"/>
              </a:spcBef>
              <a:buNone/>
            </a:pPr>
            <a:r>
              <a:rPr b="1"/>
              <a:t>6.2 企业发展战略建议</a:t>
            </a:r>
          </a:p>
          <a:p>
            <a:pPr lvl="0" indent="0" marL="0">
              <a:spcBef>
                <a:spcPts val="3000"/>
              </a:spcBef>
              <a:buNone/>
            </a:pPr>
            <a:r>
              <a:rPr b="1"/>
              <a:t>6.2.1 初创企业策略</a:t>
            </a:r>
          </a:p>
          <a:p>
            <a:pPr lvl="0" indent="-342900" marL="342900">
              <a:buAutoNum type="arabicPeriod"/>
            </a:pPr>
            <a:r>
              <a:rPr b="1"/>
              <a:t>专注细分市场</a:t>
            </a:r>
            <a:r>
              <a:rPr/>
              <a:t>：选择技术门槛相对较低、竞争较小的细分领域</a:t>
            </a:r>
          </a:p>
          <a:p>
            <a:pPr lvl="0" indent="-342900" marL="342900">
              <a:buAutoNum type="arabicPeriod"/>
            </a:pPr>
            <a:r>
              <a:rPr b="1"/>
              <a:t>轻资产运营</a:t>
            </a:r>
            <a:r>
              <a:rPr/>
              <a:t>：聚焦算法和系统集成，制造环节外包</a:t>
            </a:r>
          </a:p>
          <a:p>
            <a:pPr lvl="0" indent="-342900" marL="342900">
              <a:buAutoNum type="arabicPeriod"/>
            </a:pPr>
            <a:r>
              <a:rPr b="1"/>
              <a:t>快速迭代</a:t>
            </a:r>
            <a:r>
              <a:rPr/>
              <a:t>：采用敏捷开发模式，快速响应市场反馈</a:t>
            </a:r>
          </a:p>
          <a:p>
            <a:pPr lvl="0" indent="-342900" marL="342900">
              <a:buAutoNum type="arabicPeriod"/>
            </a:pPr>
            <a:r>
              <a:rPr b="1"/>
              <a:t>建立合作网络</a:t>
            </a:r>
            <a:r>
              <a:rPr/>
              <a:t>：与高校、研究机构、系统集成商建立合作关系</a:t>
            </a:r>
          </a:p>
          <a:p>
            <a:pPr lvl="0" indent="0" marL="0">
              <a:spcBef>
                <a:spcPts val="3000"/>
              </a:spcBef>
              <a:buNone/>
            </a:pPr>
            <a:r>
              <a:rPr b="1"/>
              <a:t>6.2.2 大型企业策略</a:t>
            </a:r>
          </a:p>
          <a:p>
            <a:pPr lvl="0" indent="-342900" marL="342900">
              <a:buAutoNum type="arabicPeriod"/>
            </a:pPr>
            <a:r>
              <a:rPr b="1"/>
              <a:t>技术并购</a:t>
            </a:r>
            <a:r>
              <a:rPr/>
              <a:t>：并购具有核心技术的中小企业，快速获取技术能力</a:t>
            </a:r>
          </a:p>
          <a:p>
            <a:pPr lvl="0" indent="-342900" marL="342900">
              <a:buAutoNum type="arabicPeriod"/>
            </a:pPr>
            <a:r>
              <a:rPr b="1"/>
              <a:t>内部孵化</a:t>
            </a:r>
            <a:r>
              <a:rPr/>
              <a:t>：设立创新部门或孵化器，培育新技术</a:t>
            </a:r>
          </a:p>
          <a:p>
            <a:pPr lvl="0" indent="-342900" marL="342900">
              <a:buAutoNum type="arabicPeriod"/>
            </a:pPr>
            <a:r>
              <a:rPr b="1"/>
              <a:t>生态构建</a:t>
            </a:r>
            <a:r>
              <a:rPr/>
              <a:t>：以自身平台为核心，构建触觉传感生态系统</a:t>
            </a:r>
          </a:p>
          <a:p>
            <a:pPr lvl="0" indent="-342900" marL="342900">
              <a:buAutoNum type="arabicPeriod"/>
            </a:pPr>
            <a:r>
              <a:rPr b="1"/>
              <a:t>标准主导</a:t>
            </a:r>
            <a:r>
              <a:rPr/>
              <a:t>：积极参与标准制定，掌握行业话语权</a:t>
            </a:r>
          </a:p>
          <a:p>
            <a:pPr lvl="0" indent="0" marL="0">
              <a:spcBef>
                <a:spcPts val="3000"/>
              </a:spcBef>
              <a:buNone/>
            </a:pPr>
            <a:r>
              <a:rPr b="1"/>
              <a:t>6.3 投资机会分析</a:t>
            </a:r>
          </a:p>
          <a:p>
            <a:pPr lvl="0" indent="0" marL="0">
              <a:spcBef>
                <a:spcPts val="3000"/>
              </a:spcBef>
              <a:buNone/>
            </a:pPr>
            <a:r>
              <a:rPr b="1"/>
              <a:t>6.3.1 高潜力投资领域</a:t>
            </a:r>
          </a:p>
          <a:p>
            <a:pPr lvl="0" indent="-342900" marL="342900">
              <a:buAutoNum type="arabicPeriod"/>
            </a:pPr>
            <a:r>
              <a:rPr b="1"/>
              <a:t>核心材料</a:t>
            </a:r>
            <a:r>
              <a:rPr/>
              <a:t>：新型弹性体材料、柔性电子材料</a:t>
            </a:r>
          </a:p>
          <a:p>
            <a:pPr lvl="0" indent="-342900" marL="342900">
              <a:buAutoNum type="arabicPeriod"/>
            </a:pPr>
            <a:r>
              <a:rPr b="1"/>
              <a:t>专用芯片</a:t>
            </a:r>
            <a:r>
              <a:rPr/>
              <a:t>：触觉信号处理专用芯片、低功耗图像处理器</a:t>
            </a:r>
          </a:p>
          <a:p>
            <a:pPr lvl="0" indent="-342900" marL="342900">
              <a:buAutoNum type="arabicPeriod"/>
            </a:pPr>
            <a:r>
              <a:rPr b="1"/>
              <a:t>算法公司</a:t>
            </a:r>
            <a:r>
              <a:rPr/>
              <a:t>：专注于触觉数据处理和力估计算法的软件公司</a:t>
            </a:r>
          </a:p>
          <a:p>
            <a:pPr lvl="0" indent="-342900" marL="342900">
              <a:buAutoNum type="arabicPeriod"/>
            </a:pPr>
            <a:r>
              <a:rPr b="1"/>
              <a:t>应用解决方案</a:t>
            </a:r>
            <a:r>
              <a:rPr/>
              <a:t>：面向特定行业的完整解决方案提供商</a:t>
            </a:r>
          </a:p>
          <a:p>
            <a:pPr lvl="0" indent="0" marL="0">
              <a:spcBef>
                <a:spcPts val="3000"/>
              </a:spcBef>
              <a:buNone/>
            </a:pPr>
            <a:r>
              <a:rPr b="1"/>
              <a:t>6.3.2 投资风险评估</a:t>
            </a:r>
          </a:p>
          <a:p>
            <a:pPr lvl="0" indent="-342900" marL="342900">
              <a:buAutoNum type="arabicPeriod"/>
            </a:pPr>
            <a:r>
              <a:rPr b="1"/>
              <a:t>技术风险</a:t>
            </a:r>
            <a:r>
              <a:rPr/>
              <a:t>：技术路线不确定性，存在被替代风险</a:t>
            </a:r>
          </a:p>
          <a:p>
            <a:pPr lvl="0" indent="-342900" marL="342900">
              <a:buAutoNum type="arabicPeriod"/>
            </a:pPr>
            <a:r>
              <a:rPr b="1"/>
              <a:t>市场风险</a:t>
            </a:r>
            <a:r>
              <a:rPr/>
              <a:t>：市场接受速度不及预期</a:t>
            </a:r>
          </a:p>
          <a:p>
            <a:pPr lvl="0" indent="-342900" marL="342900">
              <a:buAutoNum type="arabicPeriod"/>
            </a:pPr>
            <a:r>
              <a:rPr b="1"/>
              <a:t>竞争风险</a:t>
            </a:r>
            <a:r>
              <a:rPr/>
              <a:t>：国际巨头可能通过价格战挤压市场空间</a:t>
            </a:r>
          </a:p>
          <a:p>
            <a:pPr lvl="0" indent="-342900" marL="342900">
              <a:buAutoNum type="arabicPeriod"/>
            </a:pPr>
            <a:r>
              <a:rPr b="1"/>
              <a:t>政策风险</a:t>
            </a:r>
            <a:r>
              <a:rPr/>
              <a:t>：国际贸易政策变化影响供应链</a:t>
            </a:r>
          </a:p>
          <a:p>
            <a:pPr lvl="0" indent="0" marL="0">
              <a:spcBef>
                <a:spcPts val="3000"/>
              </a:spcBef>
              <a:buNone/>
            </a:pPr>
            <a:r>
              <a:rPr b="1"/>
              <a:t>6.4 未来展望</a:t>
            </a:r>
          </a:p>
          <a:p>
            <a:pPr lvl="0" indent="0" marL="0">
              <a:spcBef>
                <a:spcPts val="3000"/>
              </a:spcBef>
              <a:buNone/>
            </a:pPr>
            <a:r>
              <a:rPr b="1"/>
              <a:t>6.4.1 技术展望（2030年）</a:t>
            </a:r>
          </a:p>
          <a:p>
            <a:pPr lvl="0" indent="-342900" marL="342900">
              <a:buAutoNum type="arabicPeriod"/>
            </a:pPr>
            <a:r>
              <a:rPr b="1"/>
              <a:t>性能大幅提升</a:t>
            </a:r>
            <a:r>
              <a:rPr/>
              <a:t>：空间分辨率达到0.01mm，力测量精度达到0.1%</a:t>
            </a:r>
          </a:p>
          <a:p>
            <a:pPr lvl="0" indent="-342900" marL="342900">
              <a:buAutoNum type="arabicPeriod"/>
            </a:pPr>
            <a:r>
              <a:rPr b="1"/>
              <a:t>成本显著下降</a:t>
            </a:r>
            <a:r>
              <a:rPr/>
              <a:t>：传感器价格下降至目前的1/3-1/5</a:t>
            </a:r>
          </a:p>
          <a:p>
            <a:pPr lvl="0" indent="-342900" marL="342900">
              <a:buAutoNum type="arabicPeriod"/>
            </a:pPr>
            <a:r>
              <a:rPr b="1"/>
              <a:t>应用广泛普及</a:t>
            </a:r>
            <a:r>
              <a:rPr/>
              <a:t>：成为机器人、医疗设备的标配传感器</a:t>
            </a:r>
          </a:p>
          <a:p>
            <a:pPr lvl="0" indent="-342900" marL="342900">
              <a:buAutoNum type="arabicPeriod"/>
            </a:pPr>
            <a:r>
              <a:rPr b="1"/>
              <a:t>智能化水平高</a:t>
            </a:r>
            <a:r>
              <a:rPr/>
              <a:t>：具备自校准、自诊断、自适应能力</a:t>
            </a:r>
          </a:p>
          <a:p>
            <a:pPr lvl="0" indent="0" marL="0">
              <a:spcBef>
                <a:spcPts val="3000"/>
              </a:spcBef>
              <a:buNone/>
            </a:pPr>
            <a:r>
              <a:rPr b="1"/>
              <a:t>6.4.2 市场展望（2030年）</a:t>
            </a:r>
          </a:p>
          <a:p>
            <a:pPr lvl="0" indent="-342900" marL="342900">
              <a:buAutoNum type="arabicPeriod"/>
            </a:pPr>
            <a:r>
              <a:rPr b="1"/>
              <a:t>市场规模</a:t>
            </a:r>
            <a:r>
              <a:rPr/>
              <a:t>：视触传感器市场达到12-20亿美元</a:t>
            </a:r>
          </a:p>
          <a:p>
            <a:pPr lvl="0" indent="-342900" marL="342900">
              <a:buAutoNum type="arabicPeriod"/>
            </a:pPr>
            <a:r>
              <a:rPr b="1"/>
              <a:t>市场格局</a:t>
            </a:r>
            <a:r>
              <a:rPr/>
              <a:t>：形成3-5家全球领导企业和多家细分市场专家</a:t>
            </a:r>
          </a:p>
          <a:p>
            <a:pPr lvl="0" indent="-342900" marL="342900">
              <a:buAutoNum type="arabicPeriod"/>
            </a:pPr>
            <a:r>
              <a:rPr b="1"/>
              <a:t>应用深度</a:t>
            </a:r>
            <a:r>
              <a:rPr/>
              <a:t>：从单一力测量发展到多模态触觉感知</a:t>
            </a:r>
          </a:p>
          <a:p>
            <a:pPr lvl="0" indent="-342900" marL="342900">
              <a:buAutoNum type="arabicPeriod"/>
            </a:pPr>
            <a:r>
              <a:rPr b="1"/>
              <a:t>生态成熟</a:t>
            </a:r>
            <a:r>
              <a:rPr/>
              <a:t>：形成完整的产业链和丰富的应用生态</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附录</a:t>
            </a:r>
          </a:p>
          <a:p>
            <a:pPr lvl="0" indent="0" marL="0">
              <a:spcBef>
                <a:spcPts val="3000"/>
              </a:spcBef>
              <a:buNone/>
            </a:pPr>
            <a:r>
              <a:rPr b="1"/>
              <a:t>A. 数据来源说明</a:t>
            </a:r>
          </a:p>
          <a:p>
            <a:pPr lvl="0" indent="-342900" marL="342900">
              <a:buAutoNum type="arabicPeriod"/>
            </a:pPr>
            <a:r>
              <a:rPr/>
              <a:t>市场数据：Emergen Research, Mordor Intelligence, QY Research, Fortune Business Insights</a:t>
            </a:r>
          </a:p>
          <a:p>
            <a:pPr lvl="0" indent="-342900" marL="342900">
              <a:buAutoNum type="arabicPeriod"/>
            </a:pPr>
            <a:r>
              <a:rPr/>
              <a:t>企业信息：公司官方网站、财务报告、行业分析报告</a:t>
            </a:r>
          </a:p>
          <a:p>
            <a:pPr lvl="0" indent="-342900" marL="342900">
              <a:buAutoNum type="arabicPeriod"/>
            </a:pPr>
            <a:r>
              <a:rPr/>
              <a:t>技术信息：学术论文、专利文献、开源项目文档</a:t>
            </a:r>
          </a:p>
          <a:p>
            <a:pPr lvl="0" indent="-342900" marL="342900">
              <a:buAutoNum type="arabicPeriod"/>
            </a:pPr>
            <a:r>
              <a:rPr/>
              <a:t>验证数据：本项目实验验证结果</a:t>
            </a:r>
          </a:p>
          <a:p>
            <a:pPr lvl="0" indent="0" marL="0">
              <a:spcBef>
                <a:spcPts val="3000"/>
              </a:spcBef>
              <a:buNone/>
            </a:pPr>
            <a:r>
              <a:rPr b="1"/>
              <a:t>B. 缩略语表</a:t>
            </a:r>
          </a:p>
          <a:p>
            <a:pPr lvl="0"/>
            <a:r>
              <a:rPr/>
              <a:t>VBTS：Vision-Based Tactile Sensor（基于视觉的触觉传感器）</a:t>
            </a:r>
          </a:p>
          <a:p>
            <a:pPr lvl="0"/>
            <a:r>
              <a:rPr/>
              <a:t>TRL：Technology Readiness Level（技术成熟度等级）</a:t>
            </a:r>
          </a:p>
          <a:p>
            <a:pPr lvl="0"/>
            <a:r>
              <a:rPr/>
              <a:t>CAGR：Compound Annual Growth Rate（复合年增长率）</a:t>
            </a:r>
          </a:p>
          <a:p>
            <a:pPr lvl="0"/>
            <a:r>
              <a:rPr/>
              <a:t>FEM：Finite Element Method（有限元方法）</a:t>
            </a:r>
          </a:p>
          <a:p>
            <a:pPr lvl="0"/>
            <a:r>
              <a:rPr/>
              <a:t>FDA：Food and Drug Administration（美国食品药品监督管理局）</a:t>
            </a:r>
          </a:p>
          <a:p>
            <a:pPr lvl="0"/>
            <a:r>
              <a:rPr/>
              <a:t>CE：Conformité Européenne（欧洲合格认证）</a:t>
            </a:r>
          </a:p>
          <a:p>
            <a:pPr lvl="0" indent="0" marL="0">
              <a:spcBef>
                <a:spcPts val="3000"/>
              </a:spcBef>
              <a:buNone/>
            </a:pPr>
            <a:r>
              <a:rPr b="1"/>
              <a:t>C. 联系信息</a:t>
            </a:r>
          </a:p>
          <a:p>
            <a:pPr lvl="0" indent="0" marL="0">
              <a:buNone/>
            </a:pPr>
            <a:r>
              <a:rPr/>
              <a:t>如需进一步了解本报告内容或进行合作洽谈，请联系： - 报告编制单位：技术研究团队 - 报告版本：v1.0 - 编制日期：2026年2月24日 - 更新计划：每半年更新一次</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免责声明</a:t>
            </a:r>
            <a:r>
              <a:rPr/>
              <a:t>：本报告基于公开信息和有限的研究分析，仅供参考之用。报告中的市场预测和判断存在不确定性，读者应基于自身独立判断做出决策。报告编制单位对因使用本报告而产生的任何直接或间接损失不承担责任。</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2026-02-24T09:12:47Z</dcterms:created>
  <dcterms:modified xsi:type="dcterms:W3CDTF">2026-02-24T09:12:47Z</dcterms:modified>
</cp:coreProperties>
</file>

<file path=docProps/custom.xml><?xml version="1.0" encoding="utf-8"?>
<Properties xmlns="http://schemas.openxmlformats.org/officeDocument/2006/custom-properties" xmlns:vt="http://schemas.openxmlformats.org/officeDocument/2006/docPropsVTypes"/>
</file>